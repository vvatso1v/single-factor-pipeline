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2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9144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2C47"/>
                </a:solidFill>
                <a:latin typeface="Microsoft YaHei"/>
              </a:defRPr>
            </a:pPr>
            <a:r>
              <a:t>单因子测试流水线项目汇报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00784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57182"/>
                </a:solidFill>
                <a:latin typeface="Microsoft YaHei"/>
              </a:defRPr>
            </a:pPr>
            <a:r>
              <a:t>标准化输入、统一预处理、自动输出 IC / 分组 / 多空 / 换手 / 相关性 / 分年度表现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2788920"/>
            <a:ext cx="1645920" cy="594360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293522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数据准备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2304" y="295351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2788920"/>
            <a:ext cx="1645920" cy="594360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97479" y="293522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样本过滤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34256" y="295351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53712" y="2788920"/>
            <a:ext cx="1645920" cy="594360"/>
          </a:xfrm>
          <a:prstGeom prst="rect">
            <a:avLst/>
          </a:prstGeom>
          <a:solidFill>
            <a:srgbClr val="D27635"/>
          </a:solidFill>
          <a:ln>
            <a:solidFill>
              <a:srgbClr val="D27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293522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预处理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295351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5664" y="2788920"/>
            <a:ext cx="1645920" cy="594360"/>
          </a:xfrm>
          <a:prstGeom prst="rect">
            <a:avLst/>
          </a:prstGeom>
          <a:solidFill>
            <a:srgbClr val="4B8C5C"/>
          </a:solidFill>
          <a:ln>
            <a:solidFill>
              <a:srgbClr val="4B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1384" y="293522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因子评价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95351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57616" y="2788920"/>
            <a:ext cx="1645920" cy="594360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03336" y="293522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结果验收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35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样本验收：2019-2025 中证1000，20日反转与小市值两个经典因子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项目目标：把单因子测试固化成标准流程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任何因子只要整理成标准输入，就能得到同一套可比较的评价结果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303520" cy="411480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545336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5CAA"/>
                </a:solidFill>
                <a:latin typeface="Microsoft YaHei"/>
              </a:defRPr>
            </a:pPr>
            <a:r>
              <a:t>解决的问题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47672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避免每个因子单独写一套回测代码，减少口径不一致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统一 T 日因子、T+1 之后收益，降低 look-ahead 风险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同时输出原始版与行业/市值中性化版，判断独立 alpha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用经典因子验收整条数据链路和计算逻辑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5303520" cy="411480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545336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847F"/>
                </a:solidFill>
                <a:latin typeface="Microsoft YaHei"/>
              </a:defRPr>
            </a:pPr>
            <a:r>
              <a:t>最终输出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1947672"/>
            <a:ext cx="4892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IC 序列、IC 均值、ICIR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十分组收益与单调性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多头、空头、多空组合净值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因子排序换手率与头尾组合换手率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与已有因子库的相关性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分年度表现与因子衰减情况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整体框架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主流水线只负责标准数据后的评价；真实验收脚本负责从米筐下载并整理标准输入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463040"/>
            <a:ext cx="1737360" cy="594360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09344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米筐数据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51176" y="162763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70632" y="1463040"/>
            <a:ext cx="1737360" cy="594360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16351" y="1609344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标准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62763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4023" y="1463040"/>
            <a:ext cx="1737360" cy="594360"/>
          </a:xfrm>
          <a:prstGeom prst="rect">
            <a:avLst/>
          </a:prstGeom>
          <a:solidFill>
            <a:srgbClr val="D27635"/>
          </a:solidFill>
          <a:ln>
            <a:solidFill>
              <a:srgbClr val="D27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9743" y="1609344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样本对齐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162763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415" y="1463040"/>
            <a:ext cx="1737360" cy="594360"/>
          </a:xfrm>
          <a:prstGeom prst="rect">
            <a:avLst/>
          </a:prstGeom>
          <a:solidFill>
            <a:srgbClr val="4B8C5C"/>
          </a:solidFill>
          <a:ln>
            <a:solidFill>
              <a:srgbClr val="4B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03135" y="1609344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预处理/中性化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1" y="162763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50807" y="1463040"/>
            <a:ext cx="1737360" cy="594360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96528" y="1609344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六类结果输出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514600"/>
            <a:ext cx="10789920" cy="31089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2642616"/>
            <a:ext cx="104607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5CAA"/>
                </a:solidFill>
                <a:latin typeface="Microsoft YaHei"/>
              </a:defRPr>
            </a:pPr>
            <a:r>
              <a:t>核心文件分工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3044952"/>
            <a:ext cx="10378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single_factor_pipeline.py：通用主流水线，读取标准 CSV 并输出指标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real_data_acceptance_test.py：真实米筐数据验收，生成标准 CSV 后调用主流水线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acceptance_test.py：合成数据验收，检查方向、分组、中性化、年度衰减等逻辑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README.md：输入格式、运行方式、米筐下载样例说明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需要准备的标准输入文件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rPr dirty="0" err="1"/>
              <a:t>所有文件都以</a:t>
            </a:r>
            <a:r>
              <a:rPr dirty="0"/>
              <a:t> date + </a:t>
            </a:r>
            <a:r>
              <a:rPr dirty="0" err="1"/>
              <a:t>stock_code</a:t>
            </a:r>
            <a:r>
              <a:rPr dirty="0"/>
              <a:t> </a:t>
            </a:r>
            <a:r>
              <a:rPr dirty="0" err="1"/>
              <a:t>作为唯一键，待测因子支持长表和宽表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41732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文件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关键字段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factor.csv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date, stock_code, factor_value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待测因子值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prices.csv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post_close, raw_open, limit_up/down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收益计算与涨跌停过滤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universe.csv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in_universe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中证1000历史成分快照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status.csv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is_st, is_suspended, listing_days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ST/停牌/新股过滤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exposures.csv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industry, market_cap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行业/市值中性化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factor_library.csv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已有因子列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相关性与因子重复度检查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5321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657182"/>
                </a:solidFill>
                <a:latin typeface="Microsoft YaHei"/>
              </a:defRPr>
            </a:pPr>
            <a:r>
              <a:t>示例：20日反转和小市值可以先由 prices.csv / exposures.csv 计算出 factor.csv，再交给同一套流水线。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时间对齐与股票池过滤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核心原则：因子只能使用 T 日已知信息，收益使用 T 日之后的价格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303520" cy="393192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99616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5CAA"/>
                </a:solidFill>
                <a:latin typeface="Microsoft YaHei"/>
              </a:defRPr>
            </a:pPr>
            <a:r>
              <a:t>收益口径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489204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return_1d(T) = post_close(T+1) / post_close(T) - 1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return_5d(T) = post_close(T+5) / post_close(T) - 1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return_10d(T) = post_close(T+10) / post_close(T) - 1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后复权收盘价用于收益，未复权价格用于涨跌停判断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5303520" cy="393192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499616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27635"/>
                </a:solidFill>
                <a:latin typeface="Microsoft YaHei"/>
              </a:defRPr>
            </a:pPr>
            <a:r>
              <a:t>可交易过滤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1901952"/>
            <a:ext cx="489204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T 日属于当期中证1000成分股快照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T+1 非 ST、非停牌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T+1 上市天数 &gt;= N，默认 120 个交易日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T+1 开盘未涨停、未跌停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财务数据按公告日 info_date 生效，避免报告期回填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321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D27635"/>
                </a:solidFill>
                <a:latin typeface="Microsoft YaHei"/>
              </a:defRPr>
            </a:pPr>
            <a:r>
              <a:t>注：当前多空净值是 close-to-close 因子诊断口径，不等同完整可交易回测，后续可扩展 T+1 open 入场口径。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预处理与中性化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每天在横截面内独立处理，避免不同日期的分布互相污染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645920" cy="594360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721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缺失剔除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4016" y="149047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33472" y="1325880"/>
            <a:ext cx="1645920" cy="594360"/>
          </a:xfrm>
          <a:prstGeom prst="rect">
            <a:avLst/>
          </a:prstGeom>
          <a:solidFill>
            <a:srgbClr val="1E847F"/>
          </a:solidFill>
          <a:ln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79191" y="14721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MAD 去极值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149047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5424" y="1325880"/>
            <a:ext cx="1645920" cy="594360"/>
          </a:xfrm>
          <a:prstGeom prst="rect">
            <a:avLst/>
          </a:prstGeom>
          <a:solidFill>
            <a:srgbClr val="D27635"/>
          </a:solidFill>
          <a:ln>
            <a:solidFill>
              <a:srgbClr val="D27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4721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Z-score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49047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37376" y="1325880"/>
            <a:ext cx="1645920" cy="594360"/>
          </a:xfrm>
          <a:prstGeom prst="rect">
            <a:avLst/>
          </a:prstGeom>
          <a:solidFill>
            <a:srgbClr val="4B8C5C"/>
          </a:solidFill>
          <a:ln>
            <a:solidFill>
              <a:srgbClr val="4B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3096" y="14721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行业/市值回归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1" y="149047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718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9328" y="1325880"/>
            <a:ext cx="1645920" cy="594360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147218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残差标准化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423160"/>
            <a:ext cx="5349240" cy="283464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" y="2551176"/>
            <a:ext cx="50200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847F"/>
                </a:solidFill>
                <a:latin typeface="Microsoft YaHei"/>
              </a:defRPr>
            </a:pPr>
            <a:r>
              <a:t>中性化公式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5" y="2953512"/>
            <a:ext cx="49377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factor_raw_i = a + b × log(market_cap_i) + 行业哑变量_i + residual_i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factor_neutralized_i = zscore(residual_i)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含义：剔除能被市值与行业解释的部分，只保留剩余的独立因子强度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423160"/>
            <a:ext cx="4937760" cy="283464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2551176"/>
            <a:ext cx="4608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B8C5C"/>
                </a:solidFill>
                <a:latin typeface="Microsoft YaHei"/>
              </a:defRPr>
            </a:pPr>
            <a:r>
              <a:t>为什么要同时输出两版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2953512"/>
            <a:ext cx="4526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raw：观察因子原始排序能力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neutralized：判断是否只是行业/市值暴露的变体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若中性化后 IC 仍显著，说明因子有更强的独立解释力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六类输出指标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从相关性、分层收益、组合表现、交易稳定性、因子重复度和时间稳定性六个角度评价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3657600" cy="12801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453895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5CAA"/>
                </a:solidFill>
                <a:latin typeface="Microsoft YaHei"/>
              </a:defRPr>
            </a:pPr>
            <a:r>
              <a:t>1. IC / ICIR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856231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每天计算横截面 corr(factor, future_return)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IC 均值看方向和强度，ICIR 看稳定性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25880"/>
            <a:ext cx="3657600" cy="12801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62272" y="1453895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847F"/>
                </a:solidFill>
                <a:latin typeface="Microsoft YaHei"/>
              </a:defRPr>
            </a:pPr>
            <a:r>
              <a:t>2. 十分组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1856231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按因子值从低到高分成 G1-G10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看收益是否随组号单调改善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325880"/>
            <a:ext cx="3657600" cy="12801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453895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27635"/>
                </a:solidFill>
                <a:latin typeface="Microsoft YaHei"/>
              </a:defRPr>
            </a:pPr>
            <a:r>
              <a:t>3. 多空净值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1856231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正向因子做多 G10、做空 G1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观察排序能力是否能持续转化为收益差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63240"/>
            <a:ext cx="3657600" cy="12801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3191256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B8C5C"/>
                </a:solidFill>
                <a:latin typeface="Microsoft YaHei"/>
              </a:defRPr>
            </a:pPr>
            <a:r>
              <a:t>4. 换手率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593592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排序换手：1 - 相邻日排名相关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头尾换手：Top/Bottom 组合成分变化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063240"/>
            <a:ext cx="3657600" cy="12801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3191256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5CAA"/>
                </a:solidFill>
                <a:latin typeface="Microsoft YaHei"/>
              </a:defRPr>
            </a:pPr>
            <a:r>
              <a:t>5. 因子库相关性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7136" y="3593592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与已有因子逐日 Rank 相关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识别新因子是否只是旧因子的变体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3063240"/>
            <a:ext cx="3657600" cy="12801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57031" y="3191256"/>
            <a:ext cx="3328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847F"/>
                </a:solidFill>
                <a:latin typeface="Microsoft YaHei"/>
              </a:defRPr>
            </a:pPr>
            <a:r>
              <a:t>6. 分年度表现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3593592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按年份汇总 IC、多空收益、换手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检查因子是否衰减或阶段性失效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指标逻辑示例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这些指标不是互相替代，而是从不同角度交叉验证因子是否可靠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303520" cy="192024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99616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5CAA"/>
                </a:solidFill>
                <a:latin typeface="Microsoft YaHei"/>
              </a:defRPr>
            </a:pPr>
            <a:r>
              <a:t>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Rank IC = Corr(rank(factor_T), rank(return_T+1))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每天算一次横截面 IC，再对时间序列求均值和 ICIR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避免把所有日期混在一起算 pooled correlation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5303520" cy="192024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499616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847F"/>
                </a:solidFill>
                <a:latin typeface="Microsoft YaHei"/>
              </a:defRPr>
            </a:pPr>
            <a:r>
              <a:t>十分组与多空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1901952"/>
            <a:ext cx="4892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G1：因子值最低 10%；G10：因子值最高 10%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单调性 = SpearmanCorr(组号, 各组平均收益)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LongShortReturn = Return(G10) - Return(G1)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703320"/>
            <a:ext cx="10927080" cy="15087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3831335"/>
            <a:ext cx="105978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27635"/>
                </a:solidFill>
                <a:latin typeface="Microsoft YaHei"/>
              </a:defRPr>
            </a:pPr>
            <a:r>
              <a:t>换手与相关性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4233672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换手越高，交易成本和容量压力越大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与已有因子库高度相关时，需要判断是否有新增信息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分年度表现用于观察样本外稳定性与衰减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验收设计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用合成数据检查代码逻辑，用真实米筐数据检查输入链路与市场结果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303520" cy="384048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99616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5CAA"/>
                </a:solidFill>
                <a:latin typeface="Microsoft YaHei"/>
              </a:defRPr>
            </a:pPr>
            <a:r>
              <a:t>合成数据验收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901952"/>
            <a:ext cx="4892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构造已知答案：20日反转应为正 IC，小市值早期有效、后期衰减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优点：确定性强，适合检查方向、分组、中性化、年度统计是否写反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局限：交易状态、缺失值、涨跌停等脏数据场景仍需加强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5303520" cy="384048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499616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B8C5C"/>
                </a:solidFill>
                <a:latin typeface="Microsoft YaHei"/>
              </a:defRPr>
            </a:pPr>
            <a:r>
              <a:t>真实数据验收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1901952"/>
            <a:ext cx="4892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从 rqdatac 下载中证1000、行情、状态、行业、市值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先生成标准 CSV，再调用主流水线，模拟真实使用流程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验收因子：20日反转、小市值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smoke：小样本跑通链路；full：完整区间检查真实结果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真实数据结果：20日反转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786384"/>
            <a:ext cx="10515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rPr dirty="0"/>
              <a:t>样本：2019-2025，中证1000历史成分股；因子 = -(</a:t>
            </a:r>
            <a:r>
              <a:rPr dirty="0" err="1"/>
              <a:t>close_T</a:t>
            </a:r>
            <a:r>
              <a:rPr dirty="0"/>
              <a:t> / close_T-20 - 1)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6583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周期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Raw IC均值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Raw ICIR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中性化IC均值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中性化ICIR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1日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0.2252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0.0348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0.3198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5日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0.0503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0.3211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0.0431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0.4168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10日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0.3604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0.0455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0.4540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35240" y="1325880"/>
            <a:ext cx="34747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14356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Raw 1日十分组单调性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190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A5CAA"/>
                </a:solidFill>
                <a:latin typeface="Microsoft YaHei"/>
              </a:defRPr>
            </a:pPr>
            <a:r>
              <a:t>0.4667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Microsoft YaHei"/>
              </a:defRPr>
            </a:pPr>
            <a:r>
              <a:t>因子值越高，未来收益越高的程度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2697480"/>
            <a:ext cx="34747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84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28072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中性化 1日单调性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0906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847F"/>
                </a:solidFill>
                <a:latin typeface="Microsoft YaHei"/>
              </a:defRPr>
            </a:pPr>
            <a:r>
              <a:t>0.8788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566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Microsoft YaHei"/>
              </a:defRPr>
            </a:pPr>
            <a:r>
              <a:t>剔除行业/市值后分组更清晰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4069080"/>
            <a:ext cx="34747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27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41788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Raw 多空最终净值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4622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27635"/>
                </a:solidFill>
                <a:latin typeface="Microsoft YaHei"/>
              </a:defRPr>
            </a:pPr>
            <a:r>
              <a:t>6.5788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937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Microsoft YaHei"/>
              </a:defRPr>
            </a:pPr>
            <a:r>
              <a:t>close-to-close 诊断净值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57600"/>
            <a:ext cx="6309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F2C47"/>
                </a:solidFill>
                <a:latin typeface="Microsoft YaHei"/>
              </a:defRPr>
            </a:pPr>
            <a:r>
              <a:t>结论：20日反转 IC 为正，5日/10日更明显；中性化后仍有效，说明不是单纯由行业或市值暴露驱动。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真实数据结果：小市值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样本：2019-2025，中证1000历史成分股；因子 = -log(market_cap)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25880"/>
          <a:ext cx="6583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周期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Raw IC均值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Raw ICIR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中性化IC均值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中性化ICIR</a:t>
                      </a:r>
                    </a:p>
                  </a:txBody>
                  <a:tcPr>
                    <a:solidFill>
                      <a:srgbClr val="1F2C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1日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0.1129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0.0910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5日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0.0278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0.1816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0.0187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0.1471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10日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0.0354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0.2252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0.0246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91C21"/>
                          </a:solidFill>
                          <a:latin typeface="Microsoft YaHei"/>
                        </a:defRPr>
                      </a:pPr>
                      <a:r>
                        <a:t>0.1893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35240" y="1325880"/>
            <a:ext cx="34747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B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0" y="143560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Raw 1日十分组单调性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190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4B8C5C"/>
                </a:solidFill>
                <a:latin typeface="Microsoft YaHei"/>
              </a:defRPr>
            </a:pPr>
            <a:r>
              <a:t>0.9394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94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Microsoft YaHei"/>
              </a:defRPr>
            </a:pPr>
            <a:r>
              <a:t>分组非常单调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2697480"/>
            <a:ext cx="34747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27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0" y="28072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Raw 多空最终净值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0906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27635"/>
                </a:solidFill>
                <a:latin typeface="Microsoft YaHei"/>
              </a:defRPr>
            </a:pPr>
            <a:r>
              <a:t>2.7378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566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Microsoft YaHei"/>
              </a:defRPr>
            </a:pPr>
            <a:r>
              <a:t>长期仍有风格收益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4069080"/>
            <a:ext cx="34747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0" y="41788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2024 / 2025 1日IC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4622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A5CAA"/>
                </a:solidFill>
                <a:latin typeface="Microsoft YaHei"/>
              </a:defRPr>
            </a:pPr>
            <a:r>
              <a:t>0.0013 / 0.0269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937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57182"/>
                </a:solidFill>
                <a:latin typeface="Microsoft YaHei"/>
              </a:defRPr>
            </a:pPr>
            <a:r>
              <a:t>2024 弱化，2025 有恢复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57600"/>
            <a:ext cx="6309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F2C47"/>
                </a:solidFill>
                <a:latin typeface="Microsoft YaHei"/>
              </a:defRPr>
            </a:pPr>
            <a:r>
              <a:t>结论：小市值整体有效，分组单调性强；但年度表现有明显波动，不是简单线性衰减。中性化后 IC 下降但未完全消失，提示仍有非线性市值结构或行业内排序信息。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C47"/>
                </a:solidFill>
                <a:latin typeface="Microsoft YaHei"/>
              </a:defRPr>
            </a:pPr>
            <a:r>
              <a:t>当前边界与下一步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57182"/>
                </a:solidFill>
                <a:latin typeface="Microsoft YaHei"/>
              </a:defRPr>
            </a:pPr>
            <a:r>
              <a:t>当前版本适合作为因子研究诊断工具；若要变成交易回测，还需要继续扩展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27432"/>
          </a:xfrm>
          <a:prstGeom prst="rect">
            <a:avLst/>
          </a:prstGeom>
          <a:solidFill>
            <a:srgbClr val="2A5CAA"/>
          </a:solidFill>
          <a:ln>
            <a:solidFill>
              <a:srgbClr val="2A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303520" cy="40233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53895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27635"/>
                </a:solidFill>
                <a:latin typeface="Microsoft YaHei"/>
              </a:defRPr>
            </a:pPr>
            <a:r>
              <a:t>当前边界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856231"/>
            <a:ext cx="4892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多空净值为 close-to-close 诊断口径，不包含交易成本、冲击成本、借券约束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真实验收已能跑通输入链路，但还需要加入更严格的数据覆盖率与缓存参数校验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因子库相关性当前包含自检因子，正式使用时应接入真实已有因子库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25880"/>
            <a:ext cx="5303520" cy="4023360"/>
          </a:xfrm>
          <a:prstGeom prst="rect">
            <a:avLst/>
          </a:prstGeom>
          <a:solidFill>
            <a:srgbClr val="F1F4F8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1" y="1453895"/>
            <a:ext cx="49743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B8C5C"/>
                </a:solidFill>
                <a:latin typeface="Microsoft YaHei"/>
              </a:defRPr>
            </a:pPr>
            <a:r>
              <a:t>下一步优化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1856231"/>
            <a:ext cx="4892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增加 T+1 open 入场的可交易收益口径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补充 ST、停牌、涨跌停、新股、缺失价格的边界测试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真实数据验收增加 fail 条件：覆盖率、缺失率、每日股票数量、neutralized 输出</a:t>
            </a:r>
          </a:p>
          <a:p>
            <a:pPr>
              <a:spcAft>
                <a:spcPts val="500"/>
              </a:spcAft>
              <a:defRPr sz="1200">
                <a:solidFill>
                  <a:srgbClr val="191C21"/>
                </a:solidFill>
                <a:latin typeface="Microsoft YaHei"/>
              </a:defRPr>
            </a:pPr>
            <a:r>
              <a:t>把结果图表化：IC 累计曲线、十分组柱状图、多空净值曲线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7F7F1A0-8251-8AE5-3E50-7FFDE3807511}"/>
              </a:ext>
            </a:extLst>
          </p:cNvPr>
          <p:cNvSpPr txBox="1"/>
          <p:nvPr/>
        </p:nvSpPr>
        <p:spPr>
          <a:xfrm>
            <a:off x="482600" y="304800"/>
            <a:ext cx="812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新增因子扩展：从验收样例走向因子库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CA305A-C25E-3F80-A225-6B0703E670AC}"/>
              </a:ext>
            </a:extLst>
          </p:cNvPr>
          <p:cNvSpPr txBox="1"/>
          <p:nvPr/>
        </p:nvSpPr>
        <p:spPr>
          <a:xfrm>
            <a:off x="508000" y="863600"/>
            <a:ext cx="8128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在原有 </a:t>
            </a:r>
            <a:r>
              <a:rPr lang="en-US" altLang="zh-CN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日反转 </a:t>
            </a:r>
            <a:r>
              <a:rPr lang="en-US" altLang="zh-CN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小市值验收之后，新增 </a:t>
            </a:r>
            <a:r>
              <a:rPr lang="en-US" altLang="zh-CN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</a:t>
            </a:r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个可复现因子目录，统一输出 </a:t>
            </a:r>
            <a:r>
              <a:rPr lang="en-US" altLang="zh-CN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factor.csv </a:t>
            </a:r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并接入同一套主流水线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385E1E-2BC2-1664-2D90-AFD7712E3CBC}"/>
              </a:ext>
            </a:extLst>
          </p:cNvPr>
          <p:cNvSpPr/>
          <p:nvPr/>
        </p:nvSpPr>
        <p:spPr>
          <a:xfrm>
            <a:off x="508000" y="1295400"/>
            <a:ext cx="8128000" cy="15240"/>
          </a:xfrm>
          <a:prstGeom prst="rect">
            <a:avLst/>
          </a:prstGeom>
          <a:gradFill flip="none" rotWithShape="1">
            <a:gsLst>
              <a:gs pos="0">
                <a:srgbClr val="D9D9D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AAE6863-1E52-6E62-C6B1-BFB8974B9637}"/>
              </a:ext>
            </a:extLst>
          </p:cNvPr>
          <p:cNvSpPr/>
          <p:nvPr/>
        </p:nvSpPr>
        <p:spPr>
          <a:xfrm>
            <a:off x="558800" y="1625600"/>
            <a:ext cx="2159000" cy="330200"/>
          </a:xfrm>
          <a:prstGeom prst="roundRect">
            <a:avLst/>
          </a:prstGeom>
          <a:gradFill flip="none" rotWithShape="1">
            <a:gsLst>
              <a:gs pos="0">
                <a:srgbClr val="FAF6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EF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975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新增内容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31E05D-C900-96A6-86D8-949BF2EAFFC0}"/>
              </a:ext>
            </a:extLst>
          </p:cNvPr>
          <p:cNvSpPr txBox="1"/>
          <p:nvPr/>
        </p:nvSpPr>
        <p:spPr>
          <a:xfrm>
            <a:off x="736600" y="2095500"/>
            <a:ext cx="3683000" cy="336245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第一周量价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个因子，覆盖短期反转、月度反转、特异波动率、量价背离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第二周量价变体：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个因子，拆分隔夜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日内收益、下行残差波动、日内承接强度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第三阶段基本面预期：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个因子，先完成代码框架，等待米筐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consensus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权限落地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每个因子独立子目录，包含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build_factor.py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build_market_panel.py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data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output</a:t>
            </a:r>
            <a:endParaRPr lang="zh-CN" altLang="en-US" sz="150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B28AD93-8155-B018-D7A2-40971E597BD6}"/>
              </a:ext>
            </a:extLst>
          </p:cNvPr>
          <p:cNvSpPr/>
          <p:nvPr/>
        </p:nvSpPr>
        <p:spPr>
          <a:xfrm>
            <a:off x="4953000" y="1625600"/>
            <a:ext cx="2159000" cy="330200"/>
          </a:xfrm>
          <a:prstGeom prst="roundRect">
            <a:avLst/>
          </a:prstGeom>
          <a:gradFill flip="none" rotWithShape="1">
            <a:gsLst>
              <a:gs pos="0">
                <a:srgbClr val="FAF6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EF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975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目录原则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734100-C71F-9B34-A455-5BAA26A4374C}"/>
              </a:ext>
            </a:extLst>
          </p:cNvPr>
          <p:cNvSpPr txBox="1"/>
          <p:nvPr/>
        </p:nvSpPr>
        <p:spPr>
          <a:xfrm>
            <a:off x="5130800" y="2095500"/>
            <a:ext cx="3683000" cy="290079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因子值计算与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market panel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解耦：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factor.csv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只放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date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stock_code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factor_value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market panel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只负责股票池、可交易过滤、行业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市值暴露和收益计算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不同指数池可复制目录独立调整，避免中证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1000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、中证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等实验互相影响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脚本自包含，允许适度重复，优先保证研究阶段可读、可复制、可单独运行</a:t>
            </a:r>
          </a:p>
        </p:txBody>
      </p:sp>
    </p:spTree>
    <p:extLst>
      <p:ext uri="{BB962C8B-B14F-4D97-AF65-F5344CB8AC3E}">
        <p14:creationId xmlns:p14="http://schemas.microsoft.com/office/powerpoint/2010/main" val="2651374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C935AEB2-DA8E-081B-DD5A-19CA07B46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770" y="170372"/>
            <a:ext cx="5353797" cy="637311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E4E515F-FCE6-49DE-F130-0BB3CA6E8C43}"/>
              </a:ext>
            </a:extLst>
          </p:cNvPr>
          <p:cNvSpPr/>
          <p:nvPr/>
        </p:nvSpPr>
        <p:spPr>
          <a:xfrm>
            <a:off x="5995401" y="810798"/>
            <a:ext cx="5698108" cy="9684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D53D55-9CD4-916B-AC8E-F89F4C6B01ED}"/>
              </a:ext>
            </a:extLst>
          </p:cNvPr>
          <p:cNvSpPr/>
          <p:nvPr/>
        </p:nvSpPr>
        <p:spPr>
          <a:xfrm>
            <a:off x="5958614" y="1823546"/>
            <a:ext cx="5698108" cy="3657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A4F91EF-EB58-D287-2289-BD04F95A56F0}"/>
              </a:ext>
            </a:extLst>
          </p:cNvPr>
          <p:cNvSpPr/>
          <p:nvPr/>
        </p:nvSpPr>
        <p:spPr>
          <a:xfrm>
            <a:off x="5886544" y="5552840"/>
            <a:ext cx="5698108" cy="640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F71238-5093-9067-66E4-B3D753D8D1C9}"/>
              </a:ext>
            </a:extLst>
          </p:cNvPr>
          <p:cNvSpPr txBox="1"/>
          <p:nvPr/>
        </p:nvSpPr>
        <p:spPr>
          <a:xfrm>
            <a:off x="201949" y="1033066"/>
            <a:ext cx="71267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.\.venv\Scripts\python.exe .\reverse_20d\build_market_panel.py `</a:t>
            </a:r>
          </a:p>
          <a:p>
            <a:r>
              <a:rPr lang="zh-CN" altLang="en-US" sz="1600" dirty="0"/>
              <a:t>&gt;&gt;   --start-date 2019-01-01 `</a:t>
            </a:r>
          </a:p>
          <a:p>
            <a:r>
              <a:rPr lang="zh-CN" altLang="en-US" sz="1600" dirty="0"/>
              <a:t>&gt;&gt;   --end-date 2025-12-31 `</a:t>
            </a:r>
          </a:p>
          <a:p>
            <a:r>
              <a:rPr lang="zh-CN" altLang="en-US" sz="1600" dirty="0"/>
              <a:t>&gt;&gt;   --index-code 000852.XSHG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49B655A-A1DB-AAE5-C3DB-9B4DDB6FC6EC}"/>
              </a:ext>
            </a:extLst>
          </p:cNvPr>
          <p:cNvSpPr txBox="1"/>
          <p:nvPr/>
        </p:nvSpPr>
        <p:spPr>
          <a:xfrm>
            <a:off x="97971" y="2894503"/>
            <a:ext cx="609675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.\.venv\Scripts\python.exe .\single_factor_pipeline.py `</a:t>
            </a:r>
          </a:p>
          <a:p>
            <a:r>
              <a:rPr lang="zh-CN" altLang="en-US" sz="1600" dirty="0"/>
              <a:t>&gt;&gt;   --factor-name reverse_20d `</a:t>
            </a:r>
          </a:p>
          <a:p>
            <a:r>
              <a:rPr lang="zh-CN" altLang="en-US" sz="1600" dirty="0"/>
              <a:t>&gt;&gt;   --factor-path .\reverse_20d\data\factor.csv `</a:t>
            </a:r>
          </a:p>
          <a:p>
            <a:r>
              <a:rPr lang="zh-CN" altLang="en-US" sz="1600" dirty="0"/>
              <a:t>&gt;&gt;   --market-panel-path .\reverse_20d\data\market_panel.csv `</a:t>
            </a:r>
          </a:p>
          <a:p>
            <a:r>
              <a:rPr lang="zh-CN" altLang="en-US" sz="1600" dirty="0"/>
              <a:t>&gt;&gt;   --output-dir .\reverse_20d\output `</a:t>
            </a:r>
          </a:p>
          <a:p>
            <a:r>
              <a:rPr lang="zh-CN" altLang="en-US" sz="1600" dirty="0"/>
              <a:t>&gt;&gt;   --quantiles 10 `</a:t>
            </a:r>
          </a:p>
          <a:p>
            <a:r>
              <a:rPr lang="zh-CN" altLang="en-US" sz="1600" dirty="0"/>
              <a:t>&gt;&gt;   --min-listing-days 120 `</a:t>
            </a:r>
          </a:p>
          <a:p>
            <a:r>
              <a:rPr lang="zh-CN" altLang="en-US" sz="1600" dirty="0"/>
              <a:t>&gt;&gt;   --mad-width 3 `</a:t>
            </a:r>
          </a:p>
          <a:p>
            <a:r>
              <a:rPr lang="zh-CN" altLang="en-US" sz="1600" dirty="0"/>
              <a:t>&gt;&gt;   --direction positive `</a:t>
            </a:r>
          </a:p>
          <a:p>
            <a:r>
              <a:rPr lang="zh-CN" altLang="en-US" sz="1600" dirty="0"/>
              <a:t>&gt;&gt;   --report</a:t>
            </a:r>
          </a:p>
        </p:txBody>
      </p:sp>
    </p:spTree>
    <p:extLst>
      <p:ext uri="{BB962C8B-B14F-4D97-AF65-F5344CB8AC3E}">
        <p14:creationId xmlns:p14="http://schemas.microsoft.com/office/powerpoint/2010/main" val="3455450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DFBF1D1-CA5C-2912-1E4F-DB2DC7DE7C50}"/>
              </a:ext>
            </a:extLst>
          </p:cNvPr>
          <p:cNvSpPr txBox="1"/>
          <p:nvPr/>
        </p:nvSpPr>
        <p:spPr>
          <a:xfrm>
            <a:off x="482600" y="304800"/>
            <a:ext cx="812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量价 </a:t>
            </a:r>
            <a:r>
              <a:rPr lang="en-US" altLang="zh-CN" sz="28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</a:t>
            </a:r>
            <a:r>
              <a:rPr lang="zh-CN" altLang="en-US" sz="28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：先建立可比较的反转与噪声基准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BB538C-E87D-537A-8D64-BE49C18A31D5}"/>
              </a:ext>
            </a:extLst>
          </p:cNvPr>
          <p:cNvSpPr txBox="1"/>
          <p:nvPr/>
        </p:nvSpPr>
        <p:spPr>
          <a:xfrm>
            <a:off x="508000" y="863600"/>
            <a:ext cx="812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 </a:t>
            </a:r>
            <a:r>
              <a:rPr lang="en-US" altLang="zh-CN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个因子全部只使用 </a:t>
            </a:r>
            <a:r>
              <a:rPr lang="en-US" altLang="zh-CN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 </a:t>
            </a:r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日及以前行情数据，方向在运行主流水线时显式传入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FE47D2-2365-1E3D-4DC2-C01926DB5AB4}"/>
              </a:ext>
            </a:extLst>
          </p:cNvPr>
          <p:cNvSpPr/>
          <p:nvPr/>
        </p:nvSpPr>
        <p:spPr>
          <a:xfrm>
            <a:off x="508000" y="1295400"/>
            <a:ext cx="8128000" cy="15240"/>
          </a:xfrm>
          <a:prstGeom prst="rect">
            <a:avLst/>
          </a:prstGeom>
          <a:gradFill flip="none" rotWithShape="1">
            <a:gsLst>
              <a:gs pos="0">
                <a:srgbClr val="D9D9D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A2A56E7-6C02-D7A4-3D60-2BB33B6C30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824947"/>
              </p:ext>
            </p:extLst>
          </p:nvPr>
        </p:nvGraphicFramePr>
        <p:xfrm>
          <a:off x="482600" y="1574800"/>
          <a:ext cx="8255000" cy="3175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750">
                  <a:extLst>
                    <a:ext uri="{9D8B030D-6E8A-4147-A177-3AD203B41FA5}">
                      <a16:colId xmlns:a16="http://schemas.microsoft.com/office/drawing/2014/main" val="536554452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3694970173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2166582252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4275552617"/>
                    </a:ext>
                  </a:extLst>
                </a:gridCol>
              </a:tblGrid>
              <a:tr h="5291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因子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公式口径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方向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经济逻辑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33811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rev_1d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-r_t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前一日下跌可能是流动性冲击，短期存在修复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142054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en-US" altLang="zh-CN" sz="1000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rev_5d</a:t>
                      </a:r>
                      <a:endParaRPr lang="zh-CN" altLang="en-US" sz="1000" dirty="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-(P_t / P_{t-5} - 1)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近一周跌幅越大，短期反弹概率越高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39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rev_20d_skip1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-(P_{t-1} / P_{t-21} - 1)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跳过当日噪声后的月度反转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031024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ivol_20d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std(e_i), r_i=a+b*r_mkt_i+e_i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negative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特异波动越高，定价噪声和彩票偏好越强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237750"/>
                  </a:ext>
                </a:extLst>
              </a:tr>
              <a:tr h="529167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volume_price_divergence_20d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-corr(r_i, turnover_i)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dirty="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价格与换手背离时趋势质量较差，更偏反转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95916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ABE74F0B-68EA-3645-BA38-91D55CF0A381}"/>
              </a:ext>
            </a:extLst>
          </p:cNvPr>
          <p:cNvSpPr txBox="1"/>
          <p:nvPr/>
        </p:nvSpPr>
        <p:spPr>
          <a:xfrm>
            <a:off x="685800" y="5080000"/>
            <a:ext cx="7620000" cy="8745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性能处理：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ivol_20d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rolling var/cov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向量化计算残差方差，避免逐股票逐窗口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OLS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换手率口径：米筐使用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rq.get_turnover_rate(..., fields='today')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获取日换手率</a:t>
            </a:r>
          </a:p>
        </p:txBody>
      </p:sp>
    </p:spTree>
    <p:extLst>
      <p:ext uri="{BB962C8B-B14F-4D97-AF65-F5344CB8AC3E}">
        <p14:creationId xmlns:p14="http://schemas.microsoft.com/office/powerpoint/2010/main" val="2902045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95681FF-7F8E-83D6-59DC-F85AE8BAF016}"/>
              </a:ext>
            </a:extLst>
          </p:cNvPr>
          <p:cNvSpPr txBox="1"/>
          <p:nvPr/>
        </p:nvSpPr>
        <p:spPr>
          <a:xfrm>
            <a:off x="482600" y="304800"/>
            <a:ext cx="812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量价变体：把反转信号拆成更细的价格行为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4A2B5B-A16E-90A9-AF23-550DEA5007A1}"/>
              </a:ext>
            </a:extLst>
          </p:cNvPr>
          <p:cNvSpPr txBox="1"/>
          <p:nvPr/>
        </p:nvSpPr>
        <p:spPr>
          <a:xfrm>
            <a:off x="508000" y="863600"/>
            <a:ext cx="812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第二批因子沿用同一套目录和输出格式，主要检验 </a:t>
            </a:r>
            <a:r>
              <a:rPr lang="en-US" altLang="zh-CN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 </a:t>
            </a:r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是否能被更细口径增强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922800-6C16-8E11-9F8E-AEE24E7F742D}"/>
              </a:ext>
            </a:extLst>
          </p:cNvPr>
          <p:cNvSpPr/>
          <p:nvPr/>
        </p:nvSpPr>
        <p:spPr>
          <a:xfrm>
            <a:off x="508000" y="1295400"/>
            <a:ext cx="8128000" cy="15240"/>
          </a:xfrm>
          <a:prstGeom prst="rect">
            <a:avLst/>
          </a:prstGeom>
          <a:gradFill flip="none" rotWithShape="1">
            <a:gsLst>
              <a:gs pos="0">
                <a:srgbClr val="D9D9D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B92A3AD-0EC7-4374-9077-7DA411E99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977100"/>
              </p:ext>
            </p:extLst>
          </p:nvPr>
        </p:nvGraphicFramePr>
        <p:xfrm>
          <a:off x="482600" y="1600200"/>
          <a:ext cx="8255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750">
                  <a:extLst>
                    <a:ext uri="{9D8B030D-6E8A-4147-A177-3AD203B41FA5}">
                      <a16:colId xmlns:a16="http://schemas.microsoft.com/office/drawing/2014/main" val="2702050978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4164886332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3246669075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1315320474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因子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公式口径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方向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经济逻辑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83536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overnight_rev_5d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-mean(O_i / C_{i-1} - 1)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隔夜跳空下跌可能包含情绪冲击，后续存在修复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12008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intraday_rev_5d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-mean(C_i / O_i - 1)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日内持续弱势后，短期可能均值回复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68162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downside_ivol_20d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std(min(e_i, 0))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negative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下行特异波动越高，个股脆弱性越强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77982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tail_strength_20d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mean((C_i-O_i)/(H_i-L_i))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收盘靠近日内高位说明资金承接较强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429997"/>
                  </a:ext>
                </a:extLst>
              </a:tr>
            </a:tbl>
          </a:graphicData>
        </a:graphic>
      </p:graphicFrame>
      <p:sp>
        <p:nvSpPr>
          <p:cNvPr id="6" name="矩形: 圆角 5">
            <a:extLst>
              <a:ext uri="{FF2B5EF4-FFF2-40B4-BE49-F238E27FC236}">
                <a16:creationId xmlns:a16="http://schemas.microsoft.com/office/drawing/2014/main" id="{A8E2770D-222B-603F-30DB-87FE97188B13}"/>
              </a:ext>
            </a:extLst>
          </p:cNvPr>
          <p:cNvSpPr/>
          <p:nvPr/>
        </p:nvSpPr>
        <p:spPr>
          <a:xfrm>
            <a:off x="558800" y="4749800"/>
            <a:ext cx="2159000" cy="330200"/>
          </a:xfrm>
          <a:prstGeom prst="roundRect">
            <a:avLst/>
          </a:prstGeom>
          <a:gradFill flip="none" rotWithShape="1">
            <a:gsLst>
              <a:gs pos="0">
                <a:srgbClr val="FAF6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EF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975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实现检查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FCE8DB-F45D-6667-C9CA-538C3F1EB570}"/>
              </a:ext>
            </a:extLst>
          </p:cNvPr>
          <p:cNvSpPr txBox="1"/>
          <p:nvPr/>
        </p:nvSpPr>
        <p:spPr>
          <a:xfrm>
            <a:off x="736600" y="5232400"/>
            <a:ext cx="7620000" cy="8745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隔夜</a:t>
            </a:r>
            <a:r>
              <a:rPr lang="en-US" altLang="zh-CN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日内</a:t>
            </a:r>
            <a:r>
              <a:rPr lang="en-US" altLang="zh-CN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尾部强度使用未复权 </a:t>
            </a:r>
            <a:r>
              <a:rPr lang="en-US" altLang="zh-CN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OHLC</a:t>
            </a:r>
            <a:r>
              <a:rPr lang="zh-CN" altLang="en-US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；收益类反转和 </a:t>
            </a:r>
            <a:r>
              <a:rPr lang="en-US" altLang="zh-CN" sz="1500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ivol</a:t>
            </a:r>
            <a:r>
              <a:rPr lang="en-US" altLang="zh-CN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使用后复权收盘价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downside_ivol_20d </a:t>
            </a:r>
            <a:r>
              <a:rPr lang="zh-CN" altLang="en-US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沿用 </a:t>
            </a:r>
            <a:r>
              <a:rPr lang="en-US" altLang="zh-CN" sz="1500" dirty="0" err="1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ivol</a:t>
            </a:r>
            <a:r>
              <a:rPr lang="en-US" altLang="zh-CN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500" dirty="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的向量化回归残差框架，只对负残差部分计算滚动标准差</a:t>
            </a:r>
          </a:p>
        </p:txBody>
      </p:sp>
    </p:spTree>
    <p:extLst>
      <p:ext uri="{BB962C8B-B14F-4D97-AF65-F5344CB8AC3E}">
        <p14:creationId xmlns:p14="http://schemas.microsoft.com/office/powerpoint/2010/main" val="3852000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41E9FEF-4BCC-AE24-0754-354F20D692D8}"/>
              </a:ext>
            </a:extLst>
          </p:cNvPr>
          <p:cNvSpPr txBox="1"/>
          <p:nvPr/>
        </p:nvSpPr>
        <p:spPr>
          <a:xfrm>
            <a:off x="482600" y="304800"/>
            <a:ext cx="812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第三阶段：基本面预期类先完成代码框架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3D23BF-0DEC-8A86-49BC-6288549118E9}"/>
              </a:ext>
            </a:extLst>
          </p:cNvPr>
          <p:cNvSpPr txBox="1"/>
          <p:nvPr/>
        </p:nvSpPr>
        <p:spPr>
          <a:xfrm>
            <a:off x="508000" y="863600"/>
            <a:ext cx="812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这类因子的核心风险不是公式，而是数据时点：必须按预测发布日期和公告日过滤，不能用报告期回填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3796D6-334E-D786-568D-EDB6E8523BD4}"/>
              </a:ext>
            </a:extLst>
          </p:cNvPr>
          <p:cNvSpPr/>
          <p:nvPr/>
        </p:nvSpPr>
        <p:spPr>
          <a:xfrm>
            <a:off x="508000" y="1295400"/>
            <a:ext cx="8128000" cy="15240"/>
          </a:xfrm>
          <a:prstGeom prst="rect">
            <a:avLst/>
          </a:prstGeom>
          <a:gradFill flip="none" rotWithShape="1">
            <a:gsLst>
              <a:gs pos="0">
                <a:srgbClr val="D9D9D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9710495-E2A3-7DE0-C484-F947B39F4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493881"/>
              </p:ext>
            </p:extLst>
          </p:nvPr>
        </p:nvGraphicFramePr>
        <p:xfrm>
          <a:off x="482600" y="1574800"/>
          <a:ext cx="82550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750">
                  <a:extLst>
                    <a:ext uri="{9D8B030D-6E8A-4147-A177-3AD203B41FA5}">
                      <a16:colId xmlns:a16="http://schemas.microsoft.com/office/drawing/2014/main" val="3687013766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3926230866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3487784193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2602867504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因子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计划数据源 </a:t>
                      </a:r>
                      <a:r>
                        <a:rPr lang="en-US" altLang="zh-CN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 </a:t>
                      </a:r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字段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方向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当前状态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42695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eps_revision_60d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consensus.get_factor: EPS_T1 </a:t>
                      </a:r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或 </a:t>
                      </a:r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EPS_FTM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代码已建；等待 </a:t>
                      </a:r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consensus </a:t>
                      </a:r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权限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69409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eps_revision_breadth_60d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consensus.get_indicator: eps_t1 + institute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代码已建；按机构逐次预测变化构造上</a:t>
                      </a:r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下调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2921956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sue_latest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consensus.get_expect_appr_exceed: adjust_con_profit / con_profit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positive</a:t>
                      </a:r>
                      <a:endParaRPr lang="zh-CN" altLang="en-US" sz="10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代码已建；事件日 </a:t>
                      </a:r>
                      <a:r>
                        <a:rPr lang="en-US" altLang="zh-CN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surprise </a:t>
                      </a:r>
                      <a:r>
                        <a:rPr lang="zh-CN" altLang="en-US" sz="10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后前向填充</a:t>
                      </a:r>
                    </a:p>
                  </a:txBody>
                  <a:tcPr marL="63500" marR="63500" marT="38100" marB="381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862365"/>
                  </a:ext>
                </a:extLst>
              </a:tr>
            </a:tbl>
          </a:graphicData>
        </a:graphic>
      </p:graphicFrame>
      <p:sp>
        <p:nvSpPr>
          <p:cNvPr id="6" name="矩形: 圆角 5">
            <a:extLst>
              <a:ext uri="{FF2B5EF4-FFF2-40B4-BE49-F238E27FC236}">
                <a16:creationId xmlns:a16="http://schemas.microsoft.com/office/drawing/2014/main" id="{39AEAFAD-A6A3-08EF-6509-71CC1C62DCAE}"/>
              </a:ext>
            </a:extLst>
          </p:cNvPr>
          <p:cNvSpPr/>
          <p:nvPr/>
        </p:nvSpPr>
        <p:spPr>
          <a:xfrm>
            <a:off x="558800" y="4724400"/>
            <a:ext cx="2159000" cy="330200"/>
          </a:xfrm>
          <a:prstGeom prst="roundRect">
            <a:avLst/>
          </a:prstGeom>
          <a:gradFill flip="none" rotWithShape="1">
            <a:gsLst>
              <a:gs pos="0">
                <a:srgbClr val="FAF6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EF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975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未来函数控制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C6137ED-770C-8E77-AAC0-B5B1F14501AE}"/>
              </a:ext>
            </a:extLst>
          </p:cNvPr>
          <p:cNvSpPr txBox="1"/>
          <p:nvPr/>
        </p:nvSpPr>
        <p:spPr>
          <a:xfrm>
            <a:off x="736600" y="5207000"/>
            <a:ext cx="7620000" cy="14260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eps_revision_60d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使用每日可见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consensus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序列，公式为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EPS_T / EPS_T-60 - 1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breadth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使用研报发布日期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date_rule='rpt_dt'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，只比较同机构同预测年度的历史可见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EPS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sue_latest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使用公告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鉴定事件日期生效，标准差用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shift(1).rolling(8)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，不把当前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surprise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放进分母</a:t>
            </a:r>
          </a:p>
        </p:txBody>
      </p:sp>
    </p:spTree>
    <p:extLst>
      <p:ext uri="{BB962C8B-B14F-4D97-AF65-F5344CB8AC3E}">
        <p14:creationId xmlns:p14="http://schemas.microsoft.com/office/powerpoint/2010/main" val="1271945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3A54292-46AF-09B5-D69D-E509908F1A31}"/>
              </a:ext>
            </a:extLst>
          </p:cNvPr>
          <p:cNvSpPr txBox="1"/>
          <p:nvPr/>
        </p:nvSpPr>
        <p:spPr>
          <a:xfrm>
            <a:off x="482600" y="304800"/>
            <a:ext cx="8128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当前状态与下一步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0CBDA7-9181-DF6C-3B1F-9F9000FBC9A9}"/>
              </a:ext>
            </a:extLst>
          </p:cNvPr>
          <p:cNvSpPr txBox="1"/>
          <p:nvPr/>
        </p:nvSpPr>
        <p:spPr>
          <a:xfrm>
            <a:off x="508000" y="863600"/>
            <a:ext cx="812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3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量价因子已经具备完整运行路径；基本面因子代码已预埋，等待数据权限后进入真实验收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FBB898-82CA-841F-D5EB-4ED5CC68E7C8}"/>
              </a:ext>
            </a:extLst>
          </p:cNvPr>
          <p:cNvSpPr/>
          <p:nvPr/>
        </p:nvSpPr>
        <p:spPr>
          <a:xfrm>
            <a:off x="508000" y="1295400"/>
            <a:ext cx="8128000" cy="15240"/>
          </a:xfrm>
          <a:prstGeom prst="rect">
            <a:avLst/>
          </a:prstGeom>
          <a:gradFill flip="none" rotWithShape="1">
            <a:gsLst>
              <a:gs pos="0">
                <a:srgbClr val="D9D9D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899FBEE-654A-C492-5656-BE90D5066E34}"/>
              </a:ext>
            </a:extLst>
          </p:cNvPr>
          <p:cNvSpPr/>
          <p:nvPr/>
        </p:nvSpPr>
        <p:spPr>
          <a:xfrm>
            <a:off x="558800" y="1625600"/>
            <a:ext cx="2159000" cy="330200"/>
          </a:xfrm>
          <a:prstGeom prst="roundRect">
            <a:avLst/>
          </a:prstGeom>
          <a:gradFill flip="none" rotWithShape="1">
            <a:gsLst>
              <a:gs pos="0">
                <a:srgbClr val="FAF6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EF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975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已完成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3DC45C-04B3-630E-94DB-1E0E0FEEC3F5}"/>
              </a:ext>
            </a:extLst>
          </p:cNvPr>
          <p:cNvSpPr txBox="1"/>
          <p:nvPr/>
        </p:nvSpPr>
        <p:spPr>
          <a:xfrm>
            <a:off x="736600" y="2095500"/>
            <a:ext cx="3683000" cy="24391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新增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个因子子目录，均可独立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build factor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所有因子输出统一为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date, stock_code, factor_value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主流水线继续统一负责样本过滤、预处理、中性化、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IC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、分组、多空、换手和报告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耗时因子已避免逐窗口大循环，并加入每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只股票进度打印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3A208A5-75A1-9B3D-280F-0DE3D8323631}"/>
              </a:ext>
            </a:extLst>
          </p:cNvPr>
          <p:cNvSpPr/>
          <p:nvPr/>
        </p:nvSpPr>
        <p:spPr>
          <a:xfrm>
            <a:off x="4953000" y="1625600"/>
            <a:ext cx="2159000" cy="330200"/>
          </a:xfrm>
          <a:prstGeom prst="roundRect">
            <a:avLst/>
          </a:prstGeom>
          <a:gradFill flip="none" rotWithShape="1">
            <a:gsLst>
              <a:gs pos="0">
                <a:srgbClr val="FAF6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EF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975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待推进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5C016B-4BA2-2F98-9451-9E910E0AAE74}"/>
              </a:ext>
            </a:extLst>
          </p:cNvPr>
          <p:cNvSpPr txBox="1"/>
          <p:nvPr/>
        </p:nvSpPr>
        <p:spPr>
          <a:xfrm>
            <a:off x="5130800" y="2095500"/>
            <a:ext cx="3683000" cy="24391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开通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确认米筐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consensus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权限后，跑通第三阶段真实数据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对新增因子逐一生成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report.html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，比较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IC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ICIR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、分组单调性和多空净值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做因子间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Rank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相关性矩阵，剔除高度重复且无增量 </a:t>
            </a:r>
            <a:r>
              <a:rPr lang="en-US" altLang="zh-CN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IC </a:t>
            </a: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的因子</a:t>
            </a:r>
          </a:p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把通过验收的因子纳入正式因子库，未通过的保留为实验记录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5FBF73-6B0E-002B-3CBC-4EBEE4AB6B0E}"/>
              </a:ext>
            </a:extLst>
          </p:cNvPr>
          <p:cNvSpPr txBox="1"/>
          <p:nvPr/>
        </p:nvSpPr>
        <p:spPr>
          <a:xfrm>
            <a:off x="736600" y="5334000"/>
            <a:ext cx="7620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700"/>
              </a:spcAft>
              <a:buFont typeface="+mj-lt"/>
              <a:buChar char="•"/>
            </a:pPr>
            <a:r>
              <a:rPr lang="zh-CN" altLang="en-US" sz="15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验收标准保持不变：讲得清经济逻辑、方向稳定、与已有因子不过度重复、中性化后仍有增量信息</a:t>
            </a:r>
          </a:p>
        </p:txBody>
      </p:sp>
    </p:spTree>
    <p:extLst>
      <p:ext uri="{BB962C8B-B14F-4D97-AF65-F5344CB8AC3E}">
        <p14:creationId xmlns:p14="http://schemas.microsoft.com/office/powerpoint/2010/main" val="17744233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72C82BF-5C8E-717B-08E9-3348B9DB7A27}"/>
              </a:ext>
            </a:extLst>
          </p:cNvPr>
          <p:cNvSpPr txBox="1"/>
          <p:nvPr/>
        </p:nvSpPr>
        <p:spPr>
          <a:xfrm>
            <a:off x="482600" y="304800"/>
            <a:ext cx="82550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700" b="1" dirty="0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新增因子的报告结果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AD50CB-FF10-22CA-2BD0-64F860BFB86B}"/>
              </a:ext>
            </a:extLst>
          </p:cNvPr>
          <p:cNvSpPr/>
          <p:nvPr/>
        </p:nvSpPr>
        <p:spPr>
          <a:xfrm>
            <a:off x="508000" y="1295400"/>
            <a:ext cx="8255000" cy="15240"/>
          </a:xfrm>
          <a:prstGeom prst="rect">
            <a:avLst/>
          </a:prstGeom>
          <a:gradFill flip="none" rotWithShape="1">
            <a:gsLst>
              <a:gs pos="0">
                <a:srgbClr val="D9D9D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9E18979-EA67-72D0-5852-A92248CC5AFA}"/>
              </a:ext>
            </a:extLst>
          </p:cNvPr>
          <p:cNvSpPr/>
          <p:nvPr/>
        </p:nvSpPr>
        <p:spPr>
          <a:xfrm>
            <a:off x="558800" y="1625600"/>
            <a:ext cx="2222500" cy="330200"/>
          </a:xfrm>
          <a:prstGeom prst="roundRect">
            <a:avLst/>
          </a:prstGeom>
          <a:gradFill flip="none" rotWithShape="1">
            <a:gsLst>
              <a:gs pos="0">
                <a:srgbClr val="FAF6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EF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975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汇报口径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8E25F3-CE89-B3C7-3A9E-D5B24D17A34C}"/>
              </a:ext>
            </a:extLst>
          </p:cNvPr>
          <p:cNvSpPr txBox="1"/>
          <p:nvPr/>
        </p:nvSpPr>
        <p:spPr>
          <a:xfrm>
            <a:off x="736600" y="2095500"/>
            <a:ext cx="3619500" cy="20467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方向调整 </a:t>
            </a:r>
            <a:r>
              <a:rPr lang="en-US" altLang="zh-CN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IC</a:t>
            </a: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：正向因子看 </a:t>
            </a:r>
            <a:r>
              <a:rPr lang="en-US" altLang="zh-CN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IC</a:t>
            </a: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，负向因子看 </a:t>
            </a:r>
            <a:r>
              <a:rPr lang="en-US" altLang="zh-CN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-IC</a:t>
            </a: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，数值越大代表越符合预期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重点看 </a:t>
            </a:r>
            <a:r>
              <a:rPr lang="en-US" altLang="zh-CN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 </a:t>
            </a:r>
            <a:r>
              <a:rPr lang="en-US" altLang="zh-CN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Rank IC</a:t>
            </a: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：短周期因子通常 </a:t>
            </a:r>
            <a:r>
              <a:rPr lang="en-US" altLang="zh-CN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日噪声较高，</a:t>
            </a:r>
            <a:r>
              <a:rPr lang="en-US" altLang="zh-CN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日更适合横向比较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中性化 </a:t>
            </a:r>
            <a:r>
              <a:rPr lang="en-US" altLang="zh-CN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IC</a:t>
            </a: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：剔除行业和市值后仍有效，才更接近独立 </a:t>
            </a:r>
            <a:r>
              <a:rPr lang="en-US" altLang="zh-CN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alpha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分组单调性：十分组收益是否随因子排序稳定改善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260AAC3-10FA-F62B-733F-19B118F40E34}"/>
              </a:ext>
            </a:extLst>
          </p:cNvPr>
          <p:cNvSpPr/>
          <p:nvPr/>
        </p:nvSpPr>
        <p:spPr>
          <a:xfrm>
            <a:off x="4953000" y="1625600"/>
            <a:ext cx="2222500" cy="330200"/>
          </a:xfrm>
          <a:prstGeom prst="roundRect">
            <a:avLst/>
          </a:prstGeom>
          <a:gradFill flip="none" rotWithShape="1">
            <a:gsLst>
              <a:gs pos="0">
                <a:srgbClr val="FAF6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EF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975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当前样本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6F86AB-B6B6-3CD4-02C0-9E0D66087BEC}"/>
              </a:ext>
            </a:extLst>
          </p:cNvPr>
          <p:cNvSpPr txBox="1"/>
          <p:nvPr/>
        </p:nvSpPr>
        <p:spPr>
          <a:xfrm>
            <a:off x="5130800" y="2095500"/>
            <a:ext cx="3619500" cy="183127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样本区间：</a:t>
            </a:r>
            <a:r>
              <a:rPr lang="en-US" altLang="zh-CN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2019-2025</a:t>
            </a: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，中证</a:t>
            </a:r>
            <a:r>
              <a:rPr lang="en-US" altLang="zh-CN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1000</a:t>
            </a: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历史成分股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altLang="zh-CN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market panel </a:t>
            </a: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日期：约 </a:t>
            </a:r>
            <a:r>
              <a:rPr lang="en-US" altLang="zh-CN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1699 </a:t>
            </a: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个交易日，股票数约 </a:t>
            </a:r>
            <a:r>
              <a:rPr lang="en-US" altLang="zh-CN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2212 </a:t>
            </a: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大部分因子可交易样本约 </a:t>
            </a:r>
            <a:r>
              <a:rPr lang="en-US" altLang="zh-CN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168.7 </a:t>
            </a: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万行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多空净值为 </a:t>
            </a:r>
            <a:r>
              <a:rPr lang="en-US" altLang="zh-CN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close-to-close </a:t>
            </a: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诊断口径，不含交易成本和冲击成本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BB70D6-D4C4-B412-976E-152F4B5F21C9}"/>
              </a:ext>
            </a:extLst>
          </p:cNvPr>
          <p:cNvSpPr txBox="1"/>
          <p:nvPr/>
        </p:nvSpPr>
        <p:spPr>
          <a:xfrm>
            <a:off x="736600" y="5334000"/>
            <a:ext cx="7747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注意：</a:t>
            </a:r>
            <a:r>
              <a:rPr lang="en-US" altLang="zh-CN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overnight_rev_5d </a:t>
            </a: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 altLang="zh-CN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tail_strength_20d </a:t>
            </a:r>
            <a:r>
              <a:rPr lang="zh-CN" altLang="en-US" sz="14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的实测方向与原假设相反，后续应作为反向候选或暂缓入库。</a:t>
            </a:r>
          </a:p>
        </p:txBody>
      </p:sp>
    </p:spTree>
    <p:extLst>
      <p:ext uri="{BB962C8B-B14F-4D97-AF65-F5344CB8AC3E}">
        <p14:creationId xmlns:p14="http://schemas.microsoft.com/office/powerpoint/2010/main" val="122243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AC25E5-237F-8469-3FF5-F8F1E0DD3825}"/>
              </a:ext>
            </a:extLst>
          </p:cNvPr>
          <p:cNvSpPr txBox="1"/>
          <p:nvPr/>
        </p:nvSpPr>
        <p:spPr>
          <a:xfrm>
            <a:off x="482600" y="304800"/>
            <a:ext cx="82550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7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量价 </a:t>
            </a:r>
            <a:r>
              <a:rPr lang="en-US" altLang="zh-CN" sz="27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 </a:t>
            </a:r>
            <a:r>
              <a:rPr lang="zh-CN" altLang="en-US" sz="27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报告结果汇总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251A7B-D580-B8DC-4BA8-118CEB4CB118}"/>
              </a:ext>
            </a:extLst>
          </p:cNvPr>
          <p:cNvSpPr txBox="1"/>
          <p:nvPr/>
        </p:nvSpPr>
        <p:spPr>
          <a:xfrm>
            <a:off x="508000" y="863600"/>
            <a:ext cx="825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2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 </a:t>
            </a:r>
            <a:r>
              <a:rPr lang="zh-CN" altLang="en-US" sz="12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因子整体跑通，其中 </a:t>
            </a:r>
            <a:r>
              <a:rPr lang="en-US" altLang="zh-CN" sz="12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ivol</a:t>
            </a:r>
            <a:r>
              <a:rPr lang="zh-CN" altLang="en-US" sz="12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、月度反转和 </a:t>
            </a:r>
            <a:r>
              <a:rPr lang="en-US" altLang="zh-CN" sz="12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</a:t>
            </a:r>
            <a:r>
              <a:rPr lang="zh-CN" altLang="en-US" sz="12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日反转表现更突出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F59450-6FF4-9EF1-FF2D-6607B3E46C1E}"/>
              </a:ext>
            </a:extLst>
          </p:cNvPr>
          <p:cNvSpPr/>
          <p:nvPr/>
        </p:nvSpPr>
        <p:spPr>
          <a:xfrm>
            <a:off x="508000" y="1295400"/>
            <a:ext cx="8255000" cy="15240"/>
          </a:xfrm>
          <a:prstGeom prst="rect">
            <a:avLst/>
          </a:prstGeom>
          <a:gradFill flip="none" rotWithShape="1">
            <a:gsLst>
              <a:gs pos="0">
                <a:srgbClr val="D9D9D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EA9B4F4-76C2-FECF-CB83-7BE1082BDE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986236"/>
              </p:ext>
            </p:extLst>
          </p:nvPr>
        </p:nvGraphicFramePr>
        <p:xfrm>
          <a:off x="381000" y="1549400"/>
          <a:ext cx="86360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2559692189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522654687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1784494424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1800842744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677540797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3718819275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428386878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3421135624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因子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方向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Adj IC 1D</a:t>
                      </a:r>
                      <a:endParaRPr lang="zh-CN" altLang="en-US" sz="800" b="1">
                        <a:solidFill>
                          <a:srgbClr val="794E1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Adj IC 5D</a:t>
                      </a:r>
                      <a:endParaRPr lang="zh-CN" altLang="en-US" sz="800" b="1">
                        <a:solidFill>
                          <a:srgbClr val="794E1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Adj IC 10D</a:t>
                      </a:r>
                      <a:endParaRPr lang="zh-CN" altLang="en-US" sz="800" b="1">
                        <a:solidFill>
                          <a:srgbClr val="794E1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中性</a:t>
                      </a:r>
                      <a:r>
                        <a:rPr lang="en-US" altLang="zh-CN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5D IC</a:t>
                      </a:r>
                      <a:endParaRPr lang="zh-CN" altLang="en-US" sz="800" b="1">
                        <a:solidFill>
                          <a:srgbClr val="794E1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中性</a:t>
                      </a:r>
                      <a:r>
                        <a:rPr lang="en-US" altLang="zh-CN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5D ICIR</a:t>
                      </a:r>
                      <a:endParaRPr lang="zh-CN" altLang="en-US" sz="800" b="1">
                        <a:solidFill>
                          <a:srgbClr val="794E1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中性多空净值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850729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rev_1d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0.0308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0.0169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0.0133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0.0184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0.2223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0.67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05327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rev_5d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0.0380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0.0325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0.0327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0.0320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0.3419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4.02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6692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rev_20d_skip1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0.0344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0.0469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0.0520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0.0386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0.3785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10.73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22698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ivol_20d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0.0590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0.0808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0.0926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0.0679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0.7844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6.61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18466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volume_price_divergence_20d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0.0219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0.0250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0.0261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0.0247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0.4257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1.36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407886"/>
                  </a:ext>
                </a:extLst>
              </a:tr>
            </a:tbl>
          </a:graphicData>
        </a:graphic>
      </p:graphicFrame>
      <p:sp>
        <p:nvSpPr>
          <p:cNvPr id="6" name="矩形: 圆角 5">
            <a:extLst>
              <a:ext uri="{FF2B5EF4-FFF2-40B4-BE49-F238E27FC236}">
                <a16:creationId xmlns:a16="http://schemas.microsoft.com/office/drawing/2014/main" id="{F04D1957-EF6C-DA5F-D706-94B823FA77E6}"/>
              </a:ext>
            </a:extLst>
          </p:cNvPr>
          <p:cNvSpPr/>
          <p:nvPr/>
        </p:nvSpPr>
        <p:spPr>
          <a:xfrm>
            <a:off x="558800" y="4800600"/>
            <a:ext cx="2222500" cy="330200"/>
          </a:xfrm>
          <a:prstGeom prst="roundRect">
            <a:avLst/>
          </a:prstGeom>
          <a:gradFill flip="none" rotWithShape="1">
            <a:gsLst>
              <a:gs pos="0">
                <a:srgbClr val="FAF6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EF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975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主要结论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1FDCDF3-ED79-CF27-1E7F-ADC2C710CB68}"/>
              </a:ext>
            </a:extLst>
          </p:cNvPr>
          <p:cNvSpPr txBox="1"/>
          <p:nvPr/>
        </p:nvSpPr>
        <p:spPr>
          <a:xfrm>
            <a:off x="736600" y="5257800"/>
            <a:ext cx="7747000" cy="8463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ivol_20d 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是当前 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 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中最强的一类：方向调整后 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5D IC 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 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0.0808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，中性化后仍有 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0.0679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rev_20d_skip1 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 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5D/10D IC 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更稳定，中性化分组单调性明显，适合作为月度反转基准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volume_price_divergence_20d IC 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不高但中性化 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ICIR 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和分组单调性较好，可作为低相关候选观察</a:t>
            </a:r>
          </a:p>
        </p:txBody>
      </p:sp>
    </p:spTree>
    <p:extLst>
      <p:ext uri="{BB962C8B-B14F-4D97-AF65-F5344CB8AC3E}">
        <p14:creationId xmlns:p14="http://schemas.microsoft.com/office/powerpoint/2010/main" val="1595280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BB5561A-0A23-8192-B1E5-EEFB17D7BA61}"/>
              </a:ext>
            </a:extLst>
          </p:cNvPr>
          <p:cNvSpPr txBox="1"/>
          <p:nvPr/>
        </p:nvSpPr>
        <p:spPr>
          <a:xfrm>
            <a:off x="482600" y="304800"/>
            <a:ext cx="82550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7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量价变体报告结果汇总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CF9FFB-173F-44F9-CC55-6421E31F799D}"/>
              </a:ext>
            </a:extLst>
          </p:cNvPr>
          <p:cNvSpPr txBox="1"/>
          <p:nvPr/>
        </p:nvSpPr>
        <p:spPr>
          <a:xfrm>
            <a:off x="508000" y="863600"/>
            <a:ext cx="825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变体因子中，日内反转和下行特异波动表现较好；隔夜反转、尾部强度方向不符合初始假设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2724E1-523C-C9DA-1E66-E7167DF16630}"/>
              </a:ext>
            </a:extLst>
          </p:cNvPr>
          <p:cNvSpPr/>
          <p:nvPr/>
        </p:nvSpPr>
        <p:spPr>
          <a:xfrm>
            <a:off x="508000" y="1295400"/>
            <a:ext cx="8255000" cy="15240"/>
          </a:xfrm>
          <a:prstGeom prst="rect">
            <a:avLst/>
          </a:prstGeom>
          <a:gradFill flip="none" rotWithShape="1">
            <a:gsLst>
              <a:gs pos="0">
                <a:srgbClr val="D9D9D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3187560-86EE-35D5-EAAB-4E650D40F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57370"/>
              </p:ext>
            </p:extLst>
          </p:nvPr>
        </p:nvGraphicFramePr>
        <p:xfrm>
          <a:off x="381000" y="1549400"/>
          <a:ext cx="8636000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95319837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3733706714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8939413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454787906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3566342897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208449317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1421588189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81193136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因子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方向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Adj IC 1D</a:t>
                      </a:r>
                      <a:endParaRPr lang="zh-CN" altLang="en-US" sz="800" b="1">
                        <a:solidFill>
                          <a:srgbClr val="794E1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Adj IC 5D</a:t>
                      </a:r>
                      <a:endParaRPr lang="zh-CN" altLang="en-US" sz="800" b="1">
                        <a:solidFill>
                          <a:srgbClr val="794E1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Adj IC 10D</a:t>
                      </a:r>
                      <a:endParaRPr lang="zh-CN" altLang="en-US" sz="800" b="1">
                        <a:solidFill>
                          <a:srgbClr val="794E1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中性</a:t>
                      </a:r>
                      <a:r>
                        <a:rPr lang="en-US" altLang="zh-CN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5D IC</a:t>
                      </a:r>
                      <a:endParaRPr lang="zh-CN" altLang="en-US" sz="800" b="1">
                        <a:solidFill>
                          <a:srgbClr val="794E1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中性</a:t>
                      </a:r>
                      <a:r>
                        <a:rPr lang="en-US" altLang="zh-CN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5D ICIR</a:t>
                      </a:r>
                      <a:endParaRPr lang="zh-CN" altLang="en-US" sz="800" b="1">
                        <a:solidFill>
                          <a:srgbClr val="794E1F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中性多空净值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26582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intraday_rev_5d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0.0408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0.0376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0.0407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0.0372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0.4313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8.09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65508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downside_ivol_20d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0.0422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0.0601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0.0701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0.0482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0.5683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4.48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109438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overnight_rev_5d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-0.0075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-0.0115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-0.0189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-0.0114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-0.2130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0.22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423016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tail_strength_20d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+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-0.0273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-0.0311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-0.0349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-0.0261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-0.3116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0.14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518827"/>
                  </a:ext>
                </a:extLst>
              </a:tr>
            </a:tbl>
          </a:graphicData>
        </a:graphic>
      </p:graphicFrame>
      <p:sp>
        <p:nvSpPr>
          <p:cNvPr id="6" name="矩形: 圆角 5">
            <a:extLst>
              <a:ext uri="{FF2B5EF4-FFF2-40B4-BE49-F238E27FC236}">
                <a16:creationId xmlns:a16="http://schemas.microsoft.com/office/drawing/2014/main" id="{6E07D4DC-2F90-FE6D-0C5F-7B7C556CEED9}"/>
              </a:ext>
            </a:extLst>
          </p:cNvPr>
          <p:cNvSpPr/>
          <p:nvPr/>
        </p:nvSpPr>
        <p:spPr>
          <a:xfrm>
            <a:off x="558800" y="4800600"/>
            <a:ext cx="2222500" cy="330200"/>
          </a:xfrm>
          <a:prstGeom prst="roundRect">
            <a:avLst/>
          </a:prstGeom>
          <a:gradFill flip="none" rotWithShape="1">
            <a:gsLst>
              <a:gs pos="0">
                <a:srgbClr val="FAF6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EF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975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主要结论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F48D1C5-51D3-19AD-90C6-A0325D52FBAE}"/>
              </a:ext>
            </a:extLst>
          </p:cNvPr>
          <p:cNvSpPr txBox="1"/>
          <p:nvPr/>
        </p:nvSpPr>
        <p:spPr>
          <a:xfrm>
            <a:off x="736600" y="5257800"/>
            <a:ext cx="7747000" cy="8463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intraday_rev_5d 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表现接近强 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5D IC 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约 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0.0376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，中性化多空净值约 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8.09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downside_ivol_20d 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弱于完整 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ivol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，但仍有较强方向性，说明下行残差波动单独有效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overnight_rev_5d 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tail_strength_20d 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当前方向为负，说明原经济解释需要修正或暂不入库</a:t>
            </a:r>
          </a:p>
        </p:txBody>
      </p:sp>
    </p:spTree>
    <p:extLst>
      <p:ext uri="{BB962C8B-B14F-4D97-AF65-F5344CB8AC3E}">
        <p14:creationId xmlns:p14="http://schemas.microsoft.com/office/powerpoint/2010/main" val="33403663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B54533E-308B-E12E-620C-45D57F4BA27D}"/>
              </a:ext>
            </a:extLst>
          </p:cNvPr>
          <p:cNvSpPr txBox="1"/>
          <p:nvPr/>
        </p:nvSpPr>
        <p:spPr>
          <a:xfrm>
            <a:off x="482600" y="304800"/>
            <a:ext cx="82550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7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分组单调性与覆盖率检查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19C2B0-8C36-A363-1D71-BBA30DFBCA5F}"/>
              </a:ext>
            </a:extLst>
          </p:cNvPr>
          <p:cNvSpPr txBox="1"/>
          <p:nvPr/>
        </p:nvSpPr>
        <p:spPr>
          <a:xfrm>
            <a:off x="508000" y="863600"/>
            <a:ext cx="825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除了 </a:t>
            </a:r>
            <a:r>
              <a:rPr lang="en-US" altLang="zh-CN" sz="12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IC</a:t>
            </a:r>
            <a:r>
              <a:rPr lang="zh-CN" altLang="en-US" sz="12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，还要确认分层收益是否有序、样本覆盖是否足够，避免只看单一指标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9C2DBE-9D6F-ADF1-7322-83BD5A5BDCDB}"/>
              </a:ext>
            </a:extLst>
          </p:cNvPr>
          <p:cNvSpPr/>
          <p:nvPr/>
        </p:nvSpPr>
        <p:spPr>
          <a:xfrm>
            <a:off x="508000" y="1295400"/>
            <a:ext cx="8255000" cy="15240"/>
          </a:xfrm>
          <a:prstGeom prst="rect">
            <a:avLst/>
          </a:prstGeom>
          <a:gradFill flip="none" rotWithShape="1">
            <a:gsLst>
              <a:gs pos="0">
                <a:srgbClr val="D9D9D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B7C612D-BB31-BAD6-1724-EFA874A5E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371231"/>
              </p:ext>
            </p:extLst>
          </p:nvPr>
        </p:nvGraphicFramePr>
        <p:xfrm>
          <a:off x="381000" y="1549400"/>
          <a:ext cx="8635998" cy="2921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9333">
                  <a:extLst>
                    <a:ext uri="{9D8B030D-6E8A-4147-A177-3AD203B41FA5}">
                      <a16:colId xmlns:a16="http://schemas.microsoft.com/office/drawing/2014/main" val="1491287804"/>
                    </a:ext>
                  </a:extLst>
                </a:gridCol>
                <a:gridCol w="1439333">
                  <a:extLst>
                    <a:ext uri="{9D8B030D-6E8A-4147-A177-3AD203B41FA5}">
                      <a16:colId xmlns:a16="http://schemas.microsoft.com/office/drawing/2014/main" val="2191201852"/>
                    </a:ext>
                  </a:extLst>
                </a:gridCol>
                <a:gridCol w="1439333">
                  <a:extLst>
                    <a:ext uri="{9D8B030D-6E8A-4147-A177-3AD203B41FA5}">
                      <a16:colId xmlns:a16="http://schemas.microsoft.com/office/drawing/2014/main" val="2092573105"/>
                    </a:ext>
                  </a:extLst>
                </a:gridCol>
                <a:gridCol w="1439333">
                  <a:extLst>
                    <a:ext uri="{9D8B030D-6E8A-4147-A177-3AD203B41FA5}">
                      <a16:colId xmlns:a16="http://schemas.microsoft.com/office/drawing/2014/main" val="4006862553"/>
                    </a:ext>
                  </a:extLst>
                </a:gridCol>
                <a:gridCol w="1439333">
                  <a:extLst>
                    <a:ext uri="{9D8B030D-6E8A-4147-A177-3AD203B41FA5}">
                      <a16:colId xmlns:a16="http://schemas.microsoft.com/office/drawing/2014/main" val="1814791079"/>
                    </a:ext>
                  </a:extLst>
                </a:gridCol>
                <a:gridCol w="1439333">
                  <a:extLst>
                    <a:ext uri="{9D8B030D-6E8A-4147-A177-3AD203B41FA5}">
                      <a16:colId xmlns:a16="http://schemas.microsoft.com/office/drawing/2014/main" val="409432175"/>
                    </a:ext>
                  </a:extLst>
                </a:gridCol>
              </a:tblGrid>
              <a:tr h="417286"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因子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Raw 5D</a:t>
                      </a:r>
                      <a:r>
                        <a:rPr lang="zh-CN" altLang="en-US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单调性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中性</a:t>
                      </a:r>
                      <a:r>
                        <a:rPr lang="en-US" altLang="zh-CN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5D</a:t>
                      </a:r>
                      <a:r>
                        <a:rPr lang="zh-CN" altLang="en-US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单调性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因子行数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可交易样本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报告判断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404105"/>
                  </a:ext>
                </a:extLst>
              </a:tr>
              <a:tr h="417286"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ivol_20d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0.9636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0.7818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375.8</a:t>
                      </a:r>
                      <a:r>
                        <a:rPr lang="zh-CN" altLang="en-US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万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168.7</a:t>
                      </a:r>
                      <a:r>
                        <a:rPr lang="zh-CN" altLang="en-US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万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强，方向稳定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009211"/>
                  </a:ext>
                </a:extLst>
              </a:tr>
              <a:tr h="417286"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rev_20d_skip1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0.5152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0.7818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338.2</a:t>
                      </a:r>
                      <a:r>
                        <a:rPr lang="zh-CN" altLang="en-US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万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168.7</a:t>
                      </a:r>
                      <a:r>
                        <a:rPr lang="zh-CN" altLang="en-US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万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强，适合保留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700680"/>
                  </a:ext>
                </a:extLst>
              </a:tr>
              <a:tr h="417286"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intraday_rev_5d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0.6606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0.7091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339.1</a:t>
                      </a:r>
                      <a:r>
                        <a:rPr lang="zh-CN" altLang="en-US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万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168.7</a:t>
                      </a:r>
                      <a:r>
                        <a:rPr lang="zh-CN" altLang="en-US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万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强，变体有效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737018"/>
                  </a:ext>
                </a:extLst>
              </a:tr>
              <a:tr h="417286"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downside_ivol_20d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0.9030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0.5394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375.8</a:t>
                      </a:r>
                      <a:r>
                        <a:rPr lang="zh-CN" altLang="en-US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万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168.7</a:t>
                      </a:r>
                      <a:r>
                        <a:rPr lang="zh-CN" altLang="en-US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万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有效，但弱于 </a:t>
                      </a:r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ivol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416000"/>
                  </a:ext>
                </a:extLst>
              </a:tr>
              <a:tr h="417286"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volume_price_divergence_20d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0.6970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0.7939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338.0</a:t>
                      </a:r>
                      <a:r>
                        <a:rPr lang="zh-CN" altLang="en-US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万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168.7</a:t>
                      </a:r>
                      <a:r>
                        <a:rPr lang="zh-CN" altLang="en-US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万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温和有效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1558795"/>
                  </a:ext>
                </a:extLst>
              </a:tr>
              <a:tr h="417286"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tail_strength_20d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-0.7212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-0.9758</a:t>
                      </a:r>
                      <a:endParaRPr lang="zh-CN" altLang="en-US" sz="8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326.6</a:t>
                      </a:r>
                      <a:r>
                        <a:rPr lang="zh-CN" altLang="en-US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万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164.9</a:t>
                      </a:r>
                      <a:r>
                        <a:rPr lang="zh-CN" altLang="en-US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万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方向反，需要复核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546250"/>
                  </a:ext>
                </a:extLst>
              </a:tr>
            </a:tbl>
          </a:graphicData>
        </a:graphic>
      </p:graphicFrame>
      <p:sp>
        <p:nvSpPr>
          <p:cNvPr id="6" name="矩形: 圆角 5">
            <a:extLst>
              <a:ext uri="{FF2B5EF4-FFF2-40B4-BE49-F238E27FC236}">
                <a16:creationId xmlns:a16="http://schemas.microsoft.com/office/drawing/2014/main" id="{8190CA8E-079E-4AFF-D655-6D448ECBB1EB}"/>
              </a:ext>
            </a:extLst>
          </p:cNvPr>
          <p:cNvSpPr/>
          <p:nvPr/>
        </p:nvSpPr>
        <p:spPr>
          <a:xfrm>
            <a:off x="558800" y="4953000"/>
            <a:ext cx="2222500" cy="330200"/>
          </a:xfrm>
          <a:prstGeom prst="roundRect">
            <a:avLst/>
          </a:prstGeom>
          <a:gradFill flip="none" rotWithShape="1">
            <a:gsLst>
              <a:gs pos="0">
                <a:srgbClr val="FAF6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EF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975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入库优先级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285FD6B-C95F-F196-CA5E-94CF0CB5733F}"/>
              </a:ext>
            </a:extLst>
          </p:cNvPr>
          <p:cNvSpPr txBox="1"/>
          <p:nvPr/>
        </p:nvSpPr>
        <p:spPr>
          <a:xfrm>
            <a:off x="736600" y="5410200"/>
            <a:ext cx="7747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优先保留：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ivol_20d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rev_20d_skip1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intraday_rev_5d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downside_ivol_20d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观察候选：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rev_5d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volume_price_divergence_20d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；暂缓：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rev_1d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overnight_rev_5d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tail_strength_20d</a:t>
            </a:r>
            <a:endParaRPr lang="zh-CN" altLang="en-US" sz="1300">
              <a:solidFill>
                <a:srgbClr val="2222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2089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C13B1BA-5DD6-C052-C410-8DEAA8741426}"/>
              </a:ext>
            </a:extLst>
          </p:cNvPr>
          <p:cNvSpPr txBox="1"/>
          <p:nvPr/>
        </p:nvSpPr>
        <p:spPr>
          <a:xfrm>
            <a:off x="482600" y="304800"/>
            <a:ext cx="825500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700" b="1">
                <a:solidFill>
                  <a:srgbClr val="1F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第三阶段基本面预期因子的报告状态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535223-6184-4F2E-7F6D-955CD014BEE7}"/>
              </a:ext>
            </a:extLst>
          </p:cNvPr>
          <p:cNvSpPr txBox="1"/>
          <p:nvPr/>
        </p:nvSpPr>
        <p:spPr>
          <a:xfrm>
            <a:off x="508000" y="863600"/>
            <a:ext cx="825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12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代码已完成，但当前没有真实报告结果；需要米筐 </a:t>
            </a:r>
            <a:r>
              <a:rPr lang="en-US" altLang="zh-CN" sz="12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consensus </a:t>
            </a:r>
            <a:r>
              <a:rPr lang="zh-CN" altLang="en-US" sz="120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权限后才能进入同一套验收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548B73-7BF0-B90A-7554-7188A5A1938C}"/>
              </a:ext>
            </a:extLst>
          </p:cNvPr>
          <p:cNvSpPr/>
          <p:nvPr/>
        </p:nvSpPr>
        <p:spPr>
          <a:xfrm>
            <a:off x="508000" y="1295400"/>
            <a:ext cx="8255000" cy="15240"/>
          </a:xfrm>
          <a:prstGeom prst="rect">
            <a:avLst/>
          </a:prstGeom>
          <a:gradFill flip="none" rotWithShape="1">
            <a:gsLst>
              <a:gs pos="0">
                <a:srgbClr val="D9D9D9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20ECDF-2940-3AE9-F120-96C822461C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86662"/>
              </p:ext>
            </p:extLst>
          </p:nvPr>
        </p:nvGraphicFramePr>
        <p:xfrm>
          <a:off x="482600" y="1600200"/>
          <a:ext cx="8255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750">
                  <a:extLst>
                    <a:ext uri="{9D8B030D-6E8A-4147-A177-3AD203B41FA5}">
                      <a16:colId xmlns:a16="http://schemas.microsoft.com/office/drawing/2014/main" val="4175110249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2434804521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3773352169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590138177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因子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代码状态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报告状态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794E1F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下一步关注点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38100" cmpd="sng">
                      <a:solidFill>
                        <a:srgbClr val="D9D9D9"/>
                      </a:solidFill>
                    </a:lnB>
                    <a:solidFill>
                      <a:srgbClr val="F7F0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018759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eps_revision_60d</a:t>
                      </a:r>
                      <a:endParaRPr lang="zh-CN" altLang="en-US" sz="9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已完成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未跑真实报告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开通 </a:t>
                      </a:r>
                      <a:r>
                        <a:rPr lang="en-US" altLang="zh-CN" sz="9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EPS_T1/EPS_FTM </a:t>
                      </a:r>
                      <a:r>
                        <a:rPr lang="zh-CN" altLang="en-US" sz="9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权限后看 </a:t>
                      </a:r>
                      <a:r>
                        <a:rPr lang="en-US" altLang="zh-CN" sz="9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5D/10D IC</a:t>
                      </a:r>
                      <a:endParaRPr lang="zh-CN" altLang="en-US" sz="9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381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33428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eps_revision_breadth_60d</a:t>
                      </a:r>
                      <a:endParaRPr lang="zh-CN" altLang="en-US" sz="9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已完成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未跑真实报告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确认 </a:t>
                      </a:r>
                      <a:r>
                        <a:rPr lang="en-US" altLang="zh-CN" sz="9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get_indicator </a:t>
                      </a:r>
                      <a:r>
                        <a:rPr lang="zh-CN" altLang="en-US" sz="9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明细覆盖率和机构去重口径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83723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sue_latest</a:t>
                      </a:r>
                      <a:endParaRPr lang="zh-CN" altLang="en-US" sz="900">
                        <a:solidFill>
                          <a:srgbClr val="222222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已完成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未跑真实报告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确认 </a:t>
                      </a:r>
                      <a:r>
                        <a:rPr lang="en-US" altLang="zh-CN" sz="9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actual_np / expected_np </a:t>
                      </a:r>
                      <a:r>
                        <a:rPr lang="zh-CN" altLang="en-US" sz="900">
                          <a:solidFill>
                            <a:srgbClr val="222222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口径和公告日生效</a:t>
                      </a:r>
                    </a:p>
                  </a:txBody>
                  <a:tcPr marL="50800" marR="50800" marT="25400" marB="25400">
                    <a:lnL w="12700" cmpd="sng">
                      <a:solidFill>
                        <a:srgbClr val="D9D9D9"/>
                      </a:solidFill>
                    </a:lnL>
                    <a:lnR w="12700" cmpd="sng">
                      <a:solidFill>
                        <a:srgbClr val="D9D9D9"/>
                      </a:solidFill>
                    </a:lnR>
                    <a:lnT w="12700" cmpd="sng">
                      <a:solidFill>
                        <a:srgbClr val="D9D9D9"/>
                      </a:solidFill>
                    </a:lnT>
                    <a:lnB w="12700" cmpd="sng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9658034"/>
                  </a:ext>
                </a:extLst>
              </a:tr>
            </a:tbl>
          </a:graphicData>
        </a:graphic>
      </p:graphicFrame>
      <p:sp>
        <p:nvSpPr>
          <p:cNvPr id="6" name="矩形: 圆角 5">
            <a:extLst>
              <a:ext uri="{FF2B5EF4-FFF2-40B4-BE49-F238E27FC236}">
                <a16:creationId xmlns:a16="http://schemas.microsoft.com/office/drawing/2014/main" id="{AF70883A-02BB-7EE9-D561-9E9F8A53CE50}"/>
              </a:ext>
            </a:extLst>
          </p:cNvPr>
          <p:cNvSpPr/>
          <p:nvPr/>
        </p:nvSpPr>
        <p:spPr>
          <a:xfrm>
            <a:off x="558800" y="4191000"/>
            <a:ext cx="2222500" cy="330200"/>
          </a:xfrm>
          <a:prstGeom prst="roundRect">
            <a:avLst/>
          </a:prstGeom>
          <a:gradFill flip="none" rotWithShape="1">
            <a:gsLst>
              <a:gs pos="0">
                <a:srgbClr val="FAF6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>
            <a:solidFill>
              <a:srgbClr val="EF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300" b="1">
                <a:solidFill>
                  <a:srgbClr val="975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验收后再决定是否入库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B381F02-6270-20BA-2A6D-9577315C5B76}"/>
              </a:ext>
            </a:extLst>
          </p:cNvPr>
          <p:cNvSpPr txBox="1"/>
          <p:nvPr/>
        </p:nvSpPr>
        <p:spPr>
          <a:xfrm>
            <a:off x="736600" y="4673600"/>
            <a:ext cx="7747000" cy="8463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基本面因子不应该只看全样本 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IC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，还要看覆盖率：小票分析师覆盖可能不足，样本偏差会更强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必须检查公告日 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研报发布日期是否严格生效，不能让报告期数据提前进入 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 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如果和量价 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baseline 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相关性低、且中性化后仍有增量 </a:t>
            </a:r>
            <a:r>
              <a:rPr lang="en-US" altLang="zh-CN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IC</a:t>
            </a:r>
            <a:r>
              <a:rPr lang="zh-CN" altLang="en-US" sz="1300">
                <a:solidFill>
                  <a:srgbClr val="2222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，才进入正式因子库</a:t>
            </a:r>
          </a:p>
        </p:txBody>
      </p:sp>
    </p:spTree>
    <p:extLst>
      <p:ext uri="{BB962C8B-B14F-4D97-AF65-F5344CB8AC3E}">
        <p14:creationId xmlns:p14="http://schemas.microsoft.com/office/powerpoint/2010/main" val="2579109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2998</Words>
  <Application>Microsoft Office PowerPoint</Application>
  <PresentationFormat>宽屏</PresentationFormat>
  <Paragraphs>514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cbnb</cp:lastModifiedBy>
  <cp:revision>6</cp:revision>
  <dcterms:created xsi:type="dcterms:W3CDTF">2013-01-27T09:14:16Z</dcterms:created>
  <dcterms:modified xsi:type="dcterms:W3CDTF">2026-07-14T07:53:55Z</dcterms:modified>
  <cp:category/>
</cp:coreProperties>
</file>