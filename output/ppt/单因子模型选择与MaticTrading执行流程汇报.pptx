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752fbb68204f1b" /><Relationship Type="http://schemas.openxmlformats.org/officeDocument/2006/relationships/extended-properties" Target="/docProps/app.xml" Id="Rf3bf7bfd98de44f9" /><Relationship Type="http://schemas.openxmlformats.org/officeDocument/2006/relationships/officeDocument" Target="/ppt/presentation.xml" Id="R078869939e4647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3717c533f94c49"/>
  </p:sldMasterIdLst>
  <p:notesMasterIdLst>
    <p:notesMasterId xmlns:r="http://schemas.openxmlformats.org/officeDocument/2006/relationships" r:id="Re3994533d1f74a10"/>
  </p:notesMasterIdLst>
  <p:sldIdLst>
    <p:sldId xmlns:r="http://schemas.openxmlformats.org/officeDocument/2006/relationships" id="256" r:id="R9485532ea4d84ab8"/>
    <p:sldId xmlns:r="http://schemas.openxmlformats.org/officeDocument/2006/relationships" id="257" r:id="R26ed9619cea54646"/>
    <p:sldId xmlns:r="http://schemas.openxmlformats.org/officeDocument/2006/relationships" id="258" r:id="R3002097a445f470f"/>
    <p:sldId xmlns:r="http://schemas.openxmlformats.org/officeDocument/2006/relationships" id="259" r:id="R48464f8df7f24d5a"/>
    <p:sldId xmlns:r="http://schemas.openxmlformats.org/officeDocument/2006/relationships" id="260" r:id="Rc41483ea02094c73"/>
    <p:sldId xmlns:r="http://schemas.openxmlformats.org/officeDocument/2006/relationships" id="261" r:id="Ra28a9f29ab3442c3"/>
    <p:sldId xmlns:r="http://schemas.openxmlformats.org/officeDocument/2006/relationships" id="262" r:id="Rac9da36bb05d4a8c"/>
    <p:sldId xmlns:r="http://schemas.openxmlformats.org/officeDocument/2006/relationships" id="263" r:id="R5a9567375612475d"/>
    <p:sldId xmlns:r="http://schemas.openxmlformats.org/officeDocument/2006/relationships" id="264" r:id="R63b44f3a24eb43d7"/>
    <p:sldId xmlns:r="http://schemas.openxmlformats.org/officeDocument/2006/relationships" id="265" r:id="R3cc733b928a84550"/>
    <p:sldId xmlns:r="http://schemas.openxmlformats.org/officeDocument/2006/relationships" id="266" r:id="R83d7425994f84cb2"/>
    <p:sldId xmlns:r="http://schemas.openxmlformats.org/officeDocument/2006/relationships" id="267" r:id="R9b1deca0f102424f"/>
    <p:sldId xmlns:r="http://schemas.openxmlformats.org/officeDocument/2006/relationships" id="268" r:id="R0ab97c03d49d40b5"/>
    <p:sldId xmlns:r="http://schemas.openxmlformats.org/officeDocument/2006/relationships" id="269" r:id="R3b7940637c364997"/>
    <p:sldId xmlns:r="http://schemas.openxmlformats.org/officeDocument/2006/relationships" id="270" r:id="Rffa3ee58b792477e"/>
    <p:sldId xmlns:r="http://schemas.openxmlformats.org/officeDocument/2006/relationships" id="271" r:id="R8b2f4c083daf4b14"/>
    <p:sldId xmlns:r="http://schemas.openxmlformats.org/officeDocument/2006/relationships" id="272" r:id="R44d39c3908e24ff4"/>
    <p:sldId xmlns:r="http://schemas.openxmlformats.org/officeDocument/2006/relationships" id="273" r:id="R5342cd327cd54f45"/>
    <p:sldId xmlns:r="http://schemas.openxmlformats.org/officeDocument/2006/relationships" id="274" r:id="R260eb466775d4616"/>
    <p:sldId xmlns:r="http://schemas.openxmlformats.org/officeDocument/2006/relationships" id="275" r:id="R39b493f8687047b1"/>
    <p:sldId xmlns:r="http://schemas.openxmlformats.org/officeDocument/2006/relationships" id="276" r:id="R705e8566badf4967"/>
    <p:sldId xmlns:r="http://schemas.openxmlformats.org/officeDocument/2006/relationships" id="277" r:id="R5dcdfd47e0d24e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49b6c28b494d0f" /><Relationship Type="http://schemas.openxmlformats.org/officeDocument/2006/relationships/slideMaster" Target="/ppt/slideMasters/slideMaster1.xml" Id="R9b3717c533f94c49" /><Relationship Type="http://schemas.openxmlformats.org/officeDocument/2006/relationships/notesMaster" Target="/ppt/notesMasters/notesMaster1.xml" Id="Re3994533d1f74a10" /><Relationship Type="http://schemas.openxmlformats.org/officeDocument/2006/relationships/presProps" Target="/ppt/presProps.xml" Id="R6df30dfde1584ce3" /><Relationship Type="http://schemas.openxmlformats.org/officeDocument/2006/relationships/tableStyles" Target="/ppt/tableStyles.xml" Id="Rb15fb91b8b654f9d" /><Relationship Type="http://schemas.openxmlformats.org/officeDocument/2006/relationships/slide" Target="/ppt/slides/slide1.xml" Id="R9485532ea4d84ab8" /><Relationship Type="http://schemas.openxmlformats.org/officeDocument/2006/relationships/slide" Target="/ppt/slides/slide2.xml" Id="R26ed9619cea54646" /><Relationship Type="http://schemas.openxmlformats.org/officeDocument/2006/relationships/slide" Target="/ppt/slides/slide3.xml" Id="R3002097a445f470f" /><Relationship Type="http://schemas.openxmlformats.org/officeDocument/2006/relationships/slide" Target="/ppt/slides/slide4.xml" Id="R48464f8df7f24d5a" /><Relationship Type="http://schemas.openxmlformats.org/officeDocument/2006/relationships/slide" Target="/ppt/slides/slide5.xml" Id="Rc41483ea02094c73" /><Relationship Type="http://schemas.openxmlformats.org/officeDocument/2006/relationships/slide" Target="/ppt/slides/slide6.xml" Id="Ra28a9f29ab3442c3" /><Relationship Type="http://schemas.openxmlformats.org/officeDocument/2006/relationships/slide" Target="/ppt/slides/slide7.xml" Id="Rac9da36bb05d4a8c" /><Relationship Type="http://schemas.openxmlformats.org/officeDocument/2006/relationships/slide" Target="/ppt/slides/slide8.xml" Id="R5a9567375612475d" /><Relationship Type="http://schemas.openxmlformats.org/officeDocument/2006/relationships/slide" Target="/ppt/slides/slide9.xml" Id="R63b44f3a24eb43d7" /><Relationship Type="http://schemas.openxmlformats.org/officeDocument/2006/relationships/slide" Target="/ppt/slides/slide10.xml" Id="R3cc733b928a84550" /><Relationship Type="http://schemas.openxmlformats.org/officeDocument/2006/relationships/slide" Target="/ppt/slides/slide11.xml" Id="R83d7425994f84cb2" /><Relationship Type="http://schemas.openxmlformats.org/officeDocument/2006/relationships/slide" Target="/ppt/slides/slide12.xml" Id="R9b1deca0f102424f" /><Relationship Type="http://schemas.openxmlformats.org/officeDocument/2006/relationships/slide" Target="/ppt/slides/slide13.xml" Id="R0ab97c03d49d40b5" /><Relationship Type="http://schemas.openxmlformats.org/officeDocument/2006/relationships/slide" Target="/ppt/slides/slide14.xml" Id="R3b7940637c364997" /><Relationship Type="http://schemas.openxmlformats.org/officeDocument/2006/relationships/slide" Target="/ppt/slides/slide15.xml" Id="Rffa3ee58b792477e" /><Relationship Type="http://schemas.openxmlformats.org/officeDocument/2006/relationships/slide" Target="/ppt/slides/slide16.xml" Id="R8b2f4c083daf4b14" /><Relationship Type="http://schemas.openxmlformats.org/officeDocument/2006/relationships/slide" Target="/ppt/slides/slide17.xml" Id="R44d39c3908e24ff4" /><Relationship Type="http://schemas.openxmlformats.org/officeDocument/2006/relationships/slide" Target="/ppt/slides/slide18.xml" Id="R5342cd327cd54f45" /><Relationship Type="http://schemas.openxmlformats.org/officeDocument/2006/relationships/slide" Target="/ppt/slides/slide19.xml" Id="R260eb466775d4616" /><Relationship Type="http://schemas.openxmlformats.org/officeDocument/2006/relationships/slide" Target="/ppt/slides/slide20.xml" Id="R39b493f8687047b1" /><Relationship Type="http://schemas.openxmlformats.org/officeDocument/2006/relationships/slide" Target="/ppt/slides/slide21.xml" Id="R705e8566badf4967" /><Relationship Type="http://schemas.openxmlformats.org/officeDocument/2006/relationships/slide" Target="/ppt/slides/slide22.xml" Id="R5dcdfd47e0d24e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fac452678b48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ad87231dc4754" /><Relationship Type="http://schemas.openxmlformats.org/officeDocument/2006/relationships/notesMaster" Target="/ppt/notesMasters/notesMaster1.xml" Id="Rdbf6b6a897514e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6e7e60b65043f7" /><Relationship Type="http://schemas.openxmlformats.org/officeDocument/2006/relationships/notesMaster" Target="/ppt/notesMasters/notesMaster1.xml" Id="Re42f412afb6748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94b8b0cf24539" /><Relationship Type="http://schemas.openxmlformats.org/officeDocument/2006/relationships/notesMaster" Target="/ppt/notesMasters/notesMaster1.xml" Id="R24e1c9b4c59e4b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cf9efac45140fa" /><Relationship Type="http://schemas.openxmlformats.org/officeDocument/2006/relationships/notesMaster" Target="/ppt/notesMasters/notesMaster1.xml" Id="R7b9be37ca68041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61002d909f4d00" /><Relationship Type="http://schemas.openxmlformats.org/officeDocument/2006/relationships/notesMaster" Target="/ppt/notesMasters/notesMaster1.xml" Id="Ra386e2ffbddd4c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b9ea967b6944c5" /><Relationship Type="http://schemas.openxmlformats.org/officeDocument/2006/relationships/notesMaster" Target="/ppt/notesMasters/notesMaster1.xml" Id="Ra746bedf961140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eebf9871d942bd" /><Relationship Type="http://schemas.openxmlformats.org/officeDocument/2006/relationships/notesMaster" Target="/ppt/notesMasters/notesMaster1.xml" Id="R6738598dd48348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f8240576c54b62" /><Relationship Type="http://schemas.openxmlformats.org/officeDocument/2006/relationships/notesMaster" Target="/ppt/notesMasters/notesMaster1.xml" Id="Rea683c4791384f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c8e81a414c4676" /><Relationship Type="http://schemas.openxmlformats.org/officeDocument/2006/relationships/notesMaster" Target="/ppt/notesMasters/notesMaster1.xml" Id="R74d94bb9128c43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96a242e2b34076" /><Relationship Type="http://schemas.openxmlformats.org/officeDocument/2006/relationships/notesMaster" Target="/ppt/notesMasters/notesMaster1.xml" Id="Rc4e293d9457447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cce3b8a41a4c79" /><Relationship Type="http://schemas.openxmlformats.org/officeDocument/2006/relationships/notesMaster" Target="/ppt/notesMasters/notesMaster1.xml" Id="R59dd7f5681644f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b8e14cf02244ad" /><Relationship Type="http://schemas.openxmlformats.org/officeDocument/2006/relationships/notesMaster" Target="/ppt/notesMasters/notesMaster1.xml" Id="R6277cb884bf44f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b202dead474314" /><Relationship Type="http://schemas.openxmlformats.org/officeDocument/2006/relationships/notesMaster" Target="/ppt/notesMasters/notesMaster1.xml" Id="Rd0ec96e85c6143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a6f193610f4a6c" /><Relationship Type="http://schemas.openxmlformats.org/officeDocument/2006/relationships/notesMaster" Target="/ppt/notesMasters/notesMaster1.xml" Id="Rb8f0212ac10848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f5865f3d8045f8" /><Relationship Type="http://schemas.openxmlformats.org/officeDocument/2006/relationships/notesMaster" Target="/ppt/notesMasters/notesMaster1.xml" Id="Re2679745a2404c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c78ea450174412" /><Relationship Type="http://schemas.openxmlformats.org/officeDocument/2006/relationships/notesMaster" Target="/ppt/notesMasters/notesMaster1.xml" Id="R85116b0733044f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9778cf25be4d55" /><Relationship Type="http://schemas.openxmlformats.org/officeDocument/2006/relationships/notesMaster" Target="/ppt/notesMasters/notesMaster1.xml" Id="R5a8febc2a73b49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2ab66261844879" /><Relationship Type="http://schemas.openxmlformats.org/officeDocument/2006/relationships/notesMaster" Target="/ppt/notesMasters/notesMaster1.xml" Id="Ra96c9e8b717245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65f3faa86e4b95" /><Relationship Type="http://schemas.openxmlformats.org/officeDocument/2006/relationships/notesMaster" Target="/ppt/notesMasters/notesMaster1.xml" Id="Red8561d40e6b48c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905288ef164ce6" /><Relationship Type="http://schemas.openxmlformats.org/officeDocument/2006/relationships/notesMaster" Target="/ppt/notesMasters/notesMaster1.xml" Id="Rdbbf1678803949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5c0b6f6f1a49a3" /><Relationship Type="http://schemas.openxmlformats.org/officeDocument/2006/relationships/notesMaster" Target="/ppt/notesMasters/notesMaster1.xml" Id="Ra0229553380d49f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74d64f93a364a71" /><Relationship Type="http://schemas.openxmlformats.org/officeDocument/2006/relationships/notesMaster" Target="/ppt/notesMasters/notesMaster1.xml" Id="Rc2deec1efb8b48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项目内部研究汇报；模型与策略数据来自 rank_model、model 和 matic-trading 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项目内部：rank_model/strategy_comparison.csv；rank_model/locked_test_runs/locked_test_comparison.csv。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项目内部：model/README.md；rank_model/docs/2026-08-05-rank-model-design.md；rank_model/strategy_comparison.manifest.json。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项目内部：model/stages/labels.py；rank_model/docs/2026-08-05-rank-model-design.md；rank_model/final_runs/lightgbm_lambdarank/feature_schema.json。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项目内部：model/README.md；rank_model/docs/2026-08-05-rank-model-design.md；rank_model/final_runs/lightgbm_lambdarank/feature_schema.json。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项目内部：rank_model/final_runs/lightgbm_lambdarank/feature_schema.json；matic-trading/strategies/lambdarank_csi1000/config.py。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项目内部：rank_model/final_runs/lightgbm_lambdarank/frozen_models_snapshot.json；rank_model/docs/2026-08-05-rank-model-design.md。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项目内部：rank_model/final_runs/lightgbm_lambdarank/frozen_models_snapshot.json 中候选模型 fixed_parameters。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项目内部：rank_model/final_runs/lightgbm_lambdarank/frozen_models_snapshot.json。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项目内部：rank_model/final_runs/lightgbm_lambdarank/frozen_models_snapshot.json；rank_model/stages/training.py。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项目内部：rank_model/locked_test_runs/locked_test_comparison.csv；指标均为锁定测试汇总值。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项目内部：rank_model/strategy_comparison.csv；rank_model/strategy_runs/*/manifest.json；.worktrees/strategy-execution/rank_model/strategy_10d_nav_charts/README.txt。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项目内部：.worktrees/strategy-execution/rank_model/strategy_10d_runs/*/offset_summary.csv；strategy_10d_comparison.manifest.json。表内为10个 offset 指标的 mean 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项目内图表：.worktrees/strategy-execution/rank_model/strategy_10d_nav_charts/xgboost_rank_regression_nav.png</a:t>
            </a:r>
          </a:p>
          <a:p xmlns:a="http://schemas.openxmlformats.org/drawingml/2006/main">
            <a:r>
              <a:t>策略结果：rank_model/strategy_runs/xgboost_rank_regression/metrics_summary.json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项目内图表：.worktrees/strategy-execution/rank_model/strategy_10d_nav_charts/lightgbm_lambdarank_nav.png</a:t>
            </a:r>
          </a:p>
          <a:p xmlns:a="http://schemas.openxmlformats.org/drawingml/2006/main">
            <a:r>
              <a:t>策略结果：rank_model/strategy_runs/lightgbm_lambdarank/metrics_summary.json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项目内图表：.worktrees/strategy-execution/rank_model/strategy_10d_nav_charts/lightgbm_rank_regression_nav.png</a:t>
            </a:r>
          </a:p>
          <a:p xmlns:a="http://schemas.openxmlformats.org/drawingml/2006/main">
            <a:r>
              <a:t>策略结果：rank_model/strategy_runs/lightgbm_rank_regression/metrics_summary.json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项目内图表：.worktrees/strategy-execution/rank_model/strategy_10d_nav_charts/ridge_rank_regression_nav.png</a:t>
            </a:r>
          </a:p>
          <a:p xmlns:a="http://schemas.openxmlformats.org/drawingml/2006/main">
            <a:r>
              <a:t>策略结果：rank_model/strategy_runs/ridge_rank_regression/metrics_summary.json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项目内图表：.worktrees/strategy-execution/rank_model/strategy_10d_nav_charts/mlp_top100_hybrid_rank_nav.png</a:t>
            </a:r>
          </a:p>
          <a:p xmlns:a="http://schemas.openxmlformats.org/drawingml/2006/main">
            <a:r>
              <a:t>策略结果：rank_model/strategy_runs/mlp_top100_hybrid_rank/metrics_summary.json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项目内部：rank_model/strategy_comparison.csv；rank_model/locked_test_runs/locked_test_comparison.csv；rank_model/final_runs/lightgbm_lambdarank/manifest.json。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项目内部：matic-trading/strategies/lambdarank_csi1000/README.md；matic-trading/scripts/export_csi1000_basket.py；matic-trading/web/backend/app.py；matic-trading/external/qmt_client.py。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项目内部：matic-trading/strategies/lambdarank_csi1000/output.py；matic-trading/web/backend/basket_parser.py；matic-trading/web/backend/app.py；matic-trading/config/auto_rebalance.json。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项目内部：rank_model/strategy_comparison.csv；matic-trading/strategies/lambdarank_csi1000/README.md；matic-trading/scripts/export_csi1000_basket.py。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92740acb5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14f391f4e54467" /><Relationship Type="http://schemas.openxmlformats.org/officeDocument/2006/relationships/slideLayout" Target="/ppt/slideLayouts/slideLayout1.xml" Id="Rd8e072675bd941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e072675bd941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a83212f6446fd" /><Relationship Type="http://schemas.openxmlformats.org/officeDocument/2006/relationships/notesSlide" Target="/ppt/notesSlides/notesSlide1.xml" Id="R9c81511c74194a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d28960ad546da" /><Relationship Type="http://schemas.openxmlformats.org/officeDocument/2006/relationships/notesSlide" Target="/ppt/notesSlides/notesSlide2.xml" Id="Rc4b26245aba1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3108f043e4b56" /><Relationship Type="http://schemas.openxmlformats.org/officeDocument/2006/relationships/notesSlide" Target="/ppt/notesSlides/notesSlide3.xml" Id="Ra5233eec22214c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60ef9c5f044e7" /><Relationship Type="http://schemas.openxmlformats.org/officeDocument/2006/relationships/notesSlide" Target="/ppt/notesSlides/notesSlide4.xml" Id="R8f4c5e9747b343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499fc90e5430b" /><Relationship Type="http://schemas.openxmlformats.org/officeDocument/2006/relationships/notesSlide" Target="/ppt/notesSlides/notesSlide5.xml" Id="R53cda4abb76a41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c2ea5bfff4241" /><Relationship Type="http://schemas.openxmlformats.org/officeDocument/2006/relationships/notesSlide" Target="/ppt/notesSlides/notesSlide6.xml" Id="R0fb039944e2b47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68df688a94cf0" /><Relationship Type="http://schemas.openxmlformats.org/officeDocument/2006/relationships/notesSlide" Target="/ppt/notesSlides/notesSlide7.xml" Id="R747597d57e274f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3ae01ab864e55" /><Relationship Type="http://schemas.openxmlformats.org/officeDocument/2006/relationships/notesSlide" Target="/ppt/notesSlides/notesSlide8.xml" Id="R32042e3f279d4d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68d63153645f3" /><Relationship Type="http://schemas.openxmlformats.org/officeDocument/2006/relationships/notesSlide" Target="/ppt/notesSlides/notesSlide9.xml" Id="R6a05aa1c31c249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71bc01d6d4a0d" /><Relationship Type="http://schemas.openxmlformats.org/officeDocument/2006/relationships/notesSlide" Target="/ppt/notesSlides/notesSlide10.xml" Id="R25c48a7554004e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0e4bf7b71475f" /><Relationship Type="http://schemas.openxmlformats.org/officeDocument/2006/relationships/notesSlide" Target="/ppt/notesSlides/notesSlide11.xml" Id="R6c013e11ccbf46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2eec21ae44d18" /><Relationship Type="http://schemas.openxmlformats.org/officeDocument/2006/relationships/notesSlide" Target="/ppt/notesSlides/notesSlide12.xml" Id="R370a96ecbaf545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090eeec094cbe" /><Relationship Type="http://schemas.openxmlformats.org/officeDocument/2006/relationships/notesSlide" Target="/ppt/notesSlides/notesSlide13.xml" Id="R6624e23789a647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d3efe0028486a" /><Relationship Type="http://schemas.openxmlformats.org/officeDocument/2006/relationships/image" Target="/ppt/media/image.png" Id="R57e6949c80ab40f5" /><Relationship Type="http://schemas.openxmlformats.org/officeDocument/2006/relationships/notesSlide" Target="/ppt/notesSlides/notesSlide14.xml" Id="R896ffdd195e840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da118020f41f2" /><Relationship Type="http://schemas.openxmlformats.org/officeDocument/2006/relationships/image" Target="/ppt/media/image2.png" Id="R46704444e2cf4965" /><Relationship Type="http://schemas.openxmlformats.org/officeDocument/2006/relationships/notesSlide" Target="/ppt/notesSlides/notesSlide15.xml" Id="R47c02d4a463c44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8e741ac7e405c" /><Relationship Type="http://schemas.openxmlformats.org/officeDocument/2006/relationships/image" Target="/ppt/media/image3.png" Id="R12d93df75cbf4cd3" /><Relationship Type="http://schemas.openxmlformats.org/officeDocument/2006/relationships/notesSlide" Target="/ppt/notesSlides/notesSlide16.xml" Id="Rd1daafb7c1c54a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dfecff5654c9b" /><Relationship Type="http://schemas.openxmlformats.org/officeDocument/2006/relationships/image" Target="/ppt/media/image4.png" Id="R8ae74afab1cc487f" /><Relationship Type="http://schemas.openxmlformats.org/officeDocument/2006/relationships/notesSlide" Target="/ppt/notesSlides/notesSlide17.xml" Id="R1a4c6e12f2d84e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61c09ea47456d" /><Relationship Type="http://schemas.openxmlformats.org/officeDocument/2006/relationships/image" Target="/ppt/media/image5.png" Id="R984f3bc24d3344a6" /><Relationship Type="http://schemas.openxmlformats.org/officeDocument/2006/relationships/notesSlide" Target="/ppt/notesSlides/notesSlide18.xml" Id="Ra70abf36720449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508fbe7384452" /><Relationship Type="http://schemas.openxmlformats.org/officeDocument/2006/relationships/notesSlide" Target="/ppt/notesSlides/notesSlide19.xml" Id="R79359aef50714e0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fc9fdd585430b" /><Relationship Type="http://schemas.openxmlformats.org/officeDocument/2006/relationships/notesSlide" Target="/ppt/notesSlides/notesSlide20.xml" Id="R2dab4f2b4a674b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e43b2230c4290" /><Relationship Type="http://schemas.openxmlformats.org/officeDocument/2006/relationships/notesSlide" Target="/ppt/notesSlides/notesSlide21.xml" Id="Ra0303f88f96f4bd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41a9f3763454c" /><Relationship Type="http://schemas.openxmlformats.org/officeDocument/2006/relationships/notesSlide" Target="/ppt/notesSlides/notesSlide22.xml" Id="R87aa15ae572645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8D9A0-6C3B-4156-8A11-417F8CB4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F3557"/>
                </a:solidFill>
              </a:defRPr>
            </a:pPr>
            <a:r>
              <a:rPr sz="3150" b="1">
                <a:solidFill>
                  <a:srgbClr val="1F3557"/>
                </a:solidFill>
              </a:rPr>
              <a:t>多因子模型选择与</a:t>
            </a:r>
          </a:p>
          <a:p xmlns:a="http://schemas.openxmlformats.org/drawingml/2006/main">
            <a:pPr>
              <a:buNone/>
              <a:defRPr sz="3150" b="1">
                <a:solidFill>
                  <a:srgbClr val="1F3557"/>
                </a:solidFill>
              </a:defRPr>
            </a:pPr>
            <a:r>
              <a:rPr sz="3150" b="1">
                <a:solidFill>
                  <a:srgbClr val="1F3557"/>
                </a:solidFill>
              </a:rPr>
              <a:t>Matic Trading 执行流程汇报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F96D6-4A9A-48E6-B261-9FD996F2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657184"/>
                </a:solidFill>
              </a:defRPr>
            </a:pPr>
            <a:r>
              <a:rPr sz="1575">
                <a:solidFill>
                  <a:srgbClr val="657184"/>
                </a:solidFill>
              </a:rPr>
              <a:t>中证1000 · 10日横截面排序 · 2019–2025研究链路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D4622-F634-4F5D-865F-DA6DF652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047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17F05-6AB7-4FDD-981A-E1D5EE7A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D63B4"/>
          </a:solidFill>
          <a:ln xmlns:a="http://schemas.openxmlformats.org/drawingml/2006/main" w="9525">
            <a:solidFill>
              <a:srgbClr val="2D63B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B74B0-5233-4431-ACD5-81A99D2D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0BC86-2C1E-4576-A024-BBCC7837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17因子 + 市场/行业环境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C2986-FBDC-4335-8621-D616B47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68A87"/>
          </a:solidFill>
          <a:ln xmlns:a="http://schemas.openxmlformats.org/drawingml/2006/main" w="9525">
            <a:solidFill>
              <a:srgbClr val="168A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4BBE8-D8D0-4952-9DFA-BE8C8B0D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992A6-170C-4741-852D-553F8B4A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29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五类模型统一比较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ACF47-64CA-4DC2-96DE-3D7819F3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71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8782A"/>
          </a:solidFill>
          <a:ln xmlns:a="http://schemas.openxmlformats.org/drawingml/2006/main" w="9525">
            <a:solidFill>
              <a:srgbClr val="D878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DB86B-1A1B-4E31-8372-09CF61E7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957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58892-3BC0-47B1-9722-BFA1742A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29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2023模型选择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20211-5D95-4D00-A574-6B0DEBA6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71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4B925F"/>
          </a:solidFill>
          <a:ln xmlns:a="http://schemas.openxmlformats.org/drawingml/2006/main" w="9525">
            <a:solidFill>
              <a:srgbClr val="4B92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9D8AF-2ED5-4E64-AD77-D54BCA6E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C92F6-5ACA-459C-A363-61FEDBFE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29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2024–2025锁定测试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1CC9A-0B35-4039-9B32-AE176545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718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F3557"/>
          </a:solidFill>
          <a:ln xmlns:a="http://schemas.openxmlformats.org/drawingml/2006/main" w="9525">
            <a:solidFill>
              <a:srgbClr val="1F35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23448-C6E5-4AB9-BB56-A3D3317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F0A0F-2A42-4F93-A400-E52BA487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29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Top100 → JSON → Matic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48EAB-D305-4A5A-9B65-5705A3F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汇报结论：LambdaRank 不是所有指标都第一，但作为“直接优化Top100排序 + 较低换手/成本”的执行模型最匹配当前策略。</a:t>
            </a:r>
          </a:p>
        </p:txBody>
      </p:sp>
    </p:spTree>
    <p:extLst>
      <p:ext uri="{BB962C8B-B14F-4D97-AF65-F5344CB8AC3E}">
        <p14:creationId xmlns:p14="http://schemas.microsoft.com/office/powerpoint/2010/main" val="157339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626C6-0CE1-4E48-8E2D-502044C7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先看结论：模型比较的目标不是“谁的收益最高”，而是“谁最适合执行”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234B2-1B06-41E4-8491-00C5DB6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五个模型共享同一输入、同一时间切分和同一策略合同，差异主要来自模型目标与复杂度。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A79BA-451B-4FDF-A0F3-5256CED8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5F139-A198-42E6-B20C-442A4EBD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02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1F3E0-43E4-4FD5-A16D-86CF68C0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A328E-4F63-49CE-A3E5-DC90CD2D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97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68A87"/>
                </a:solidFill>
              </a:defRPr>
            </a:pPr>
            <a:r>
              <a:rPr sz="1650" b="1">
                <a:solidFill>
                  <a:srgbClr val="168A87"/>
                </a:solidFill>
              </a:rPr>
              <a:t>研究结论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32FB6-18C9-4422-BC38-D0279C2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28825"/>
            <a:ext cx="2952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XGBoost 的静态策略收益与 Sharpe 最高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LambdaRank 的目标与 Top100 选股最直接一致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LambdaRank 单向换手和累计成本最低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MLP 的模型指标与策略结果没有同步改善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最终执行模型选择 LambdaRank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3731B-FE21-4EF9-8F02-44A809F3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3827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211B-D371-44D3-B733-E850A98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097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D63B4"/>
                </a:solidFill>
              </a:defRPr>
            </a:pPr>
            <a:r>
              <a:rPr sz="1650" b="1">
                <a:solidFill>
                  <a:srgbClr val="2D63B4"/>
                </a:solidFill>
              </a:rPr>
              <a:t>评价原则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85EAB-7019-480C-9471-86A6AAA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28825"/>
            <a:ext cx="2952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先看锁定测试，再看策略回测。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模型层：Rank IC、NDCG@100、Precision@100、Pairwise Accuracy。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策略层：累计收益、CAGR、波动、Sharpe、最大回撤、换手、成本。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1C7B3-C7E6-439C-813D-0C45DBD2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3827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904A7-4EA0-464C-B0F6-CC697F25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097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8782A"/>
                </a:solidFill>
              </a:defRPr>
            </a:pPr>
            <a:r>
              <a:rPr sz="1650" b="1">
                <a:solidFill>
                  <a:srgbClr val="D8782A"/>
                </a:solidFill>
              </a:rPr>
              <a:t>当前边界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8B54C-0E59-4ADE-AC97-779F08C6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28825"/>
            <a:ext cx="2952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只做10日模型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目标是横截面排序，不是预测指数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2024–2025只做一次静态测试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自动运行器已删除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现在输出 Top100 JSON，由 Matic 手动/下游执行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4CF1B-0E1C-4C95-8FE8-23DFB623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3557"/>
                </a:solidFill>
              </a:defRPr>
            </a:pPr>
            <a:r>
              <a:rPr sz="1575" b="1">
                <a:solidFill>
                  <a:srgbClr val="1F3557"/>
                </a:solidFill>
              </a:rPr>
              <a:t>结论不是“LambdaRank 每个数值都最好”，而是综合了目标函数、Top100适配度、换手和执行成本后的工程选择。</a:t>
            </a:r>
          </a:p>
        </p:txBody>
      </p:sp>
    </p:spTree>
    <p:extLst>
      <p:ext uri="{BB962C8B-B14F-4D97-AF65-F5344CB8AC3E}">
        <p14:creationId xmlns:p14="http://schemas.microsoft.com/office/powerpoint/2010/main" val="2112055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69189-805B-4169-B65E-88458C61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时间切分先于模型选择：验证集负责选模型，测试集只负责验收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00C91-19D6-4739-8E4A-F011A8A1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这样可以避免用 2024–2025 的结果反过来调参。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6FC6E-DCE2-4DEB-8B96-EE379D14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4D667-1E8F-4A12-BAFC-2E4152BF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03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7E4F2-51AC-4F08-9B92-D956A2E5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76550"/>
            <a:ext cx="19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98A4E-78DC-4223-9AF2-E09E86AD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76550"/>
            <a:ext cx="19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52C03-1DD0-45D6-9FCB-92886B0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76550"/>
            <a:ext cx="19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B13AD-1FBF-4089-97BB-BE728892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381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D63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5A413-3ACF-406B-9D1D-8437F1CC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D63B4"/>
                </a:solidFill>
              </a:defRPr>
            </a:pPr>
            <a:r>
              <a:rPr sz="1875" b="1">
                <a:solidFill>
                  <a:srgbClr val="2D63B4"/>
                </a:solidFill>
              </a:rPr>
              <a:t>2019–2022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C6AC7-B506-4117-8719-3CF6A633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训练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拟合模型参数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4FF27-177B-4AB3-A34B-004F7881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381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878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CB035-BE25-4C0E-BF94-6463E3F9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8782A"/>
                </a:solidFill>
              </a:defRPr>
            </a:pPr>
            <a:r>
              <a:rPr sz="1875" b="1">
                <a:solidFill>
                  <a:srgbClr val="D8782A"/>
                </a:solidFill>
              </a:rPr>
              <a:t>2023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3631F-1344-47FC-ABB7-FE14D64E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验证 / 模型选择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比较五个候选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41F01-1FC2-40E1-8B28-B570AA9E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2381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8A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92D67-E432-4EC7-86FD-16F6ECD8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68A87"/>
                </a:solidFill>
              </a:defRPr>
            </a:pPr>
            <a:r>
              <a:rPr sz="1875" b="1">
                <a:solidFill>
                  <a:srgbClr val="168A87"/>
                </a:solidFill>
              </a:rPr>
              <a:t>2019–2023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5B989-04D8-4268-8ECA-2371D86E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最终重训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冻结模型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4FC36-9C89-416A-A8D4-AD7B4FD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2381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92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1503C-E2EB-47B5-A428-57794486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908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4B925F"/>
                </a:solidFill>
              </a:defRPr>
            </a:pPr>
            <a:r>
              <a:rPr sz="1875" b="1">
                <a:solidFill>
                  <a:srgbClr val="4B925F"/>
                </a:solidFill>
              </a:rPr>
              <a:t>2024–2025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1AFFA-6DA4-48E3-A7BA-BC690661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锁定测试</a:t>
            </a:r>
          </a:p>
          <a:p xmlns:a="http://schemas.openxmlformats.org/drawingml/2006/main">
            <a:pPr algn="ctr"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只看结果不调参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3ED3B-CD20-42D0-8464-61C971C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344052"/>
                </a:solidFill>
              </a:defRPr>
            </a:pPr>
            <a:r>
              <a:rPr sz="1500">
                <a:solidFill>
                  <a:srgbClr val="344052"/>
                </a:solidFill>
              </a:rPr>
              <a:t>•  模型选择看 2023；最终模型用 2019–2023 重训一次，并冻结。</a:t>
            </a:r>
          </a:p>
          <a:p xmlns:a="http://schemas.openxmlformats.org/drawingml/2006/main">
            <a:pPr>
              <a:buNone/>
              <a:defRPr sz="1500">
                <a:solidFill>
                  <a:srgbClr val="344052"/>
                </a:solidFill>
              </a:defRPr>
            </a:pPr>
            <a:r>
              <a:rPr sz="1500">
                <a:solidFill>
                  <a:srgbClr val="344052"/>
                </a:solidFill>
              </a:rPr>
              <a:t>•  2024–2025 的 484 个交易日观察是最终静态策略验收。</a:t>
            </a:r>
          </a:p>
          <a:p xmlns:a="http://schemas.openxmlformats.org/drawingml/2006/main">
            <a:pPr>
              <a:buNone/>
              <a:defRPr sz="1500">
                <a:solidFill>
                  <a:srgbClr val="344052"/>
                </a:solidFill>
              </a:defRPr>
            </a:pPr>
            <a:r>
              <a:rPr sz="1500">
                <a:solidFill>
                  <a:srgbClr val="344052"/>
                </a:solidFill>
              </a:rPr>
              <a:t>•  2026 以后不纳入本次测试，用于前向模拟和观察衰减。</a:t>
            </a:r>
          </a:p>
        </p:txBody>
      </p:sp>
    </p:spTree>
    <p:extLst>
      <p:ext uri="{BB962C8B-B14F-4D97-AF65-F5344CB8AC3E}">
        <p14:creationId xmlns:p14="http://schemas.microsoft.com/office/powerpoint/2010/main" val="857459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4A7F87-3E28-4FF6-9970-F6370A49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模型学习的是 T 日横截面相对排序，不是指数方向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931A7-4469-4FF6-816C-9F538726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T 日收盘后形成信息集，使用 T+1 开盘进入，并以 T+11 开盘作为10日退出点。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F9263-99E0-42C5-B995-BF5DBF39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FF738-8663-4824-AE40-B3952B1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04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04AC9-CBBC-4146-BD70-3F525F31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8782A"/>
                </a:solidFill>
              </a:defRPr>
            </a:pPr>
            <a:r>
              <a:rPr sz="2175" b="1">
                <a:solidFill>
                  <a:srgbClr val="D8782A"/>
                </a:solidFill>
              </a:rPr>
              <a:t>target_10d(T) = post_open(T+11) / post_open(T+1) − 1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56205-36D3-4515-BDFB-EA11483B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F3557"/>
                </a:solidFill>
              </a:defRPr>
            </a:pPr>
            <a:r>
              <a:rPr sz="1500">
                <a:solidFill>
                  <a:srgbClr val="1F3557"/>
                </a:solidFill>
              </a:rPr>
              <a:t>rank_target_10d = 当日中证1000横截面中，target_10d 的连续百分位排名（0–1）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17314-E408-42EF-AB59-E82B5C05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B49BC-B6A4-48EF-9A92-33FC4FF4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338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C15CD-31CA-4CDF-8626-D4326D60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3ECA9-FF8F-4B89-A5E8-9A9633A7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3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55CB9-7BED-460E-9FB9-9CDFE0DA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57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D63B4"/>
                </a:solidFill>
              </a:defRPr>
            </a:pPr>
            <a:r>
              <a:rPr sz="1650" b="1">
                <a:solidFill>
                  <a:srgbClr val="2D63B4"/>
                </a:solidFill>
              </a:rPr>
              <a:t>T 日收盘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01081-1C4B-49DE-843D-7BA358B1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48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因子和市场环境</a:t>
            </a:r>
          </a:p>
          <a:p xmlns:a="http://schemas.openxmlformats.org/drawingml/2006/main">
            <a:pPr algn="ctr"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全部已可见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85A1C-B6B1-48AA-8586-6FC64A60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A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E450B-CB7E-4B04-9A2B-AAFBD930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57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68A87"/>
                </a:solidFill>
              </a:defRPr>
            </a:pPr>
            <a:r>
              <a:rPr sz="1650" b="1">
                <a:solidFill>
                  <a:srgbClr val="168A87"/>
                </a:solidFill>
              </a:rPr>
              <a:t>T+1 开盘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16E66-8F71-4724-8992-5B03F13E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848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按计划进入</a:t>
            </a:r>
          </a:p>
          <a:p xmlns:a="http://schemas.openxmlformats.org/drawingml/2006/main">
            <a:pPr algn="ctr"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使用 post_open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1D09A-3AD9-479B-B5C3-93661823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78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3F4CC-9486-46AF-B6E3-B4F6D59F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57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8782A"/>
                </a:solidFill>
              </a:defRPr>
            </a:pPr>
            <a:r>
              <a:rPr sz="1650" b="1">
                <a:solidFill>
                  <a:srgbClr val="D8782A"/>
                </a:solidFill>
              </a:rPr>
              <a:t>T+11 开盘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50242-9BE2-49F7-BD5C-59E9BB66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48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10日退出</a:t>
            </a:r>
          </a:p>
          <a:p xmlns:a="http://schemas.openxmlformats.org/drawingml/2006/main">
            <a:pPr algn="ctr"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形成绝对收益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CD541-8264-41C0-BBA5-47CE6D9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9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B00BC-2739-4FB2-BFBF-1F9CCE49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57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B925F"/>
                </a:solidFill>
              </a:defRPr>
            </a:pPr>
            <a:r>
              <a:rPr sz="1650" b="1">
                <a:solidFill>
                  <a:srgbClr val="4B925F"/>
                </a:solidFill>
              </a:rPr>
              <a:t>横截面排名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BF0CA-78BE-4177-A9AB-7E9D6D3F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48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每天在CSI1000内</a:t>
            </a:r>
          </a:p>
          <a:p xmlns:a="http://schemas.openxmlformats.org/drawingml/2006/main">
            <a:pPr algn="ctr"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转成0–1标签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2A5AA-6197-4675-B68D-B0D8A05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3557"/>
                </a:solidFill>
              </a:defRPr>
            </a:pPr>
            <a:r>
              <a:rPr sz="1500" b="1">
                <a:solidFill>
                  <a:srgbClr val="1F3557"/>
                </a:solidFill>
              </a:rPr>
              <a:t>模型的实际输出是 score_raw 和排名；不是“未来涨幅 2%”这样的校准收益率。</a:t>
            </a:r>
          </a:p>
        </p:txBody>
      </p:sp>
    </p:spTree>
    <p:extLst>
      <p:ext uri="{BB962C8B-B14F-4D97-AF65-F5344CB8AC3E}">
        <p14:creationId xmlns:p14="http://schemas.microsoft.com/office/powerpoint/2010/main" val="1508543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CB82A-7149-445B-9B15-B4B065FC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输入先保持长表，再按 date + stock_code 合并成每日横截面宽表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86291-1EB9-4240-90DF-56F4DC01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单因子输出格式统一；模型阶段负责合并、缺失标记、标准化和行业编码。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16278-9E5E-4EDF-B0DB-16091E9C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AA314-3A50-4989-97C1-AE6875C5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05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7C347-EF62-47FA-AF83-0627160E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8A063-1521-4809-A6A2-7BE195DB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D63B4"/>
                </a:solidFill>
              </a:defRPr>
            </a:pPr>
            <a:r>
              <a:rPr sz="1725" b="1">
                <a:solidFill>
                  <a:srgbClr val="2D63B4"/>
                </a:solidFill>
              </a:rPr>
              <a:t>factor.csv：每个因子一个文件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9B574-7799-48A1-8ED9-E95CBFF3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344052"/>
                </a:solidFill>
              </a:defRPr>
            </a:pPr>
            <a:r>
              <a:rPr sz="1425">
                <a:solidFill>
                  <a:srgbClr val="344052"/>
                </a:solidFill>
              </a:rPr>
              <a:t>date,stock_code,factor_value</a:t>
            </a:r>
          </a:p>
          <a:p xmlns:a="http://schemas.openxmlformats.org/drawingml/2006/main">
            <a:pPr>
              <a:buNone/>
              <a:defRPr sz="1425">
                <a:solidFill>
                  <a:srgbClr val="344052"/>
                </a:solidFill>
              </a:defRPr>
            </a:pPr>
            <a:r>
              <a:rPr sz="1425">
                <a:solidFill>
                  <a:srgbClr val="344052"/>
                </a:solidFill>
              </a:rPr>
              <a:t>2023-12-29,000001.XSHE,0.0123</a:t>
            </a:r>
          </a:p>
          <a:p xmlns:a="http://schemas.openxmlformats.org/drawingml/2006/main">
            <a:pPr>
              <a:buNone/>
              <a:defRPr sz="1425">
                <a:solidFill>
                  <a:srgbClr val="344052"/>
                </a:solidFill>
              </a:defRPr>
            </a:pPr>
            <a:r>
              <a:rPr sz="1425">
                <a:solidFill>
                  <a:srgbClr val="344052"/>
                </a:solidFill>
              </a:rPr>
              <a:t>2023-12-29,000002.XSHE,-0.0041</a:t>
            </a:r>
          </a:p>
          <a:p xmlns:a="http://schemas.openxmlformats.org/drawingml/2006/main">
            <a:pPr>
              <a:buNone/>
              <a:defRPr sz="1425">
                <a:solidFill>
                  <a:srgbClr val="344052"/>
                </a:solidFill>
              </a:defRPr>
            </a:pPr>
            <a:r>
              <a:rPr sz="1425">
                <a:solidFill>
                  <a:srgbClr val="344052"/>
                </a:solidFill>
              </a:rPr>
              <a:t>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589D9-5171-40A5-A37D-E28882A4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624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57184"/>
                </a:solidFill>
              </a:defRPr>
            </a:pPr>
            <a:r>
              <a:rPr sz="1350">
                <a:solidFill>
                  <a:srgbClr val="657184"/>
                </a:solidFill>
              </a:rPr>
              <a:t>17 个因子分别保存；主键必须唯一。</a:t>
            </a:r>
          </a:p>
          <a:p xmlns:a="http://schemas.openxmlformats.org/drawingml/2006/main">
            <a:pPr>
              <a:buNone/>
              <a:defRPr sz="1350">
                <a:solidFill>
                  <a:srgbClr val="657184"/>
                </a:solidFill>
              </a:defRPr>
            </a:pPr>
            <a:r>
              <a:rPr sz="1350">
                <a:solidFill>
                  <a:srgbClr val="657184"/>
                </a:solidFill>
              </a:rPr>
              <a:t>模型只取 T 日股票池内的因子值。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19E0B-626B-48AE-85C8-090C5C06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C3BDB-E9ED-4EC8-A7B6-FF3ACD83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8F14D-846C-4CF4-AFCA-D83FF1F0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57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8A87"/>
                </a:solidFill>
              </a:defRPr>
            </a:pPr>
            <a:r>
              <a:rPr sz="1725" b="1">
                <a:solidFill>
                  <a:srgbClr val="168A87"/>
                </a:solidFill>
              </a:rPr>
              <a:t>模型宽表：一行 = T 日一只股票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8689B-BD95-43AB-92D7-89FB6CE9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90750"/>
            <a:ext cx="4286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键：date, stock_code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17 个原始因子 + 17 个缺失标记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log_market_cap + market_cap_missing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市场环境：涨跌、波动、涨跌停、成交覆盖等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行业环境：行业收益、波动、相对收益、覆盖度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行业 one-hot：31 类，未知行业映射 UNKNOWN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FA5EF-239B-4B1A-9402-0887F643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3557"/>
                </a:solidFill>
              </a:defRPr>
            </a:pPr>
            <a:r>
              <a:rPr sz="1500" b="1">
                <a:solidFill>
                  <a:srgbClr val="1F3557"/>
                </a:solidFill>
              </a:rPr>
              <a:t>冻结后的模型输入：111 个连续特征 + 31 个行业 one-hot = 142 个数值特征。</a:t>
            </a:r>
          </a:p>
        </p:txBody>
      </p:sp>
    </p:spTree>
    <p:extLst>
      <p:ext uri="{BB962C8B-B14F-4D97-AF65-F5344CB8AC3E}">
        <p14:creationId xmlns:p14="http://schemas.microsoft.com/office/powerpoint/2010/main" val="704579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7F509-36F6-4E02-9744-667E0984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17 个输入因子覆盖量价反转、波动、基本面预期和财务质量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7AE87-8615-4332-BCC7-308EBD3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本页只列出因子目录，不重复解释每个因子的经济含义。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0D535-4382-4FA8-AF6E-81BD9887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55C57-1610-48D0-84A9-FF7B8B05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06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2B42A-B1A2-4948-9F5A-190D8FDE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85531-5AB2-4E39-A5E7-DA0226E9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D63B4"/>
                </a:solidFill>
              </a:defRPr>
            </a:pPr>
            <a:r>
              <a:rPr sz="1650" b="1">
                <a:solidFill>
                  <a:srgbClr val="2D63B4"/>
                </a:solidFill>
              </a:rPr>
              <a:t>量价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E9CE6-9D36-4B14-A1D7-CEAD227B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90725"/>
            <a:ext cx="299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rev_1d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rev_5d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rev_20d_skip1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ivol_20d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volume_price_divergence_20d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64049-E223-4DF9-A70D-96DC51C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5732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23366-808A-4D63-AE80-2B0F5E08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9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68A87"/>
                </a:solidFill>
              </a:defRPr>
            </a:pPr>
            <a:r>
              <a:rPr sz="1650" b="1">
                <a:solidFill>
                  <a:srgbClr val="168A87"/>
                </a:solidFill>
              </a:rPr>
              <a:t>量价变体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21146-BB7A-4595-A422-1A7834C8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90725"/>
            <a:ext cx="299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overnight_rev_5d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intraday_rev_5d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downside_ivol_20d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tail_strength_20d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7E7F0-622E-4002-92C1-280CFF34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57325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E3A6D-E601-418D-A06D-6F7EBB40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97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8782A"/>
                </a:solidFill>
              </a:defRPr>
            </a:pPr>
            <a:r>
              <a:rPr sz="1650" b="1">
                <a:solidFill>
                  <a:srgbClr val="D8782A"/>
                </a:solidFill>
              </a:rPr>
              <a:t>基本面预期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EF8B2-88CC-4EA6-86ED-5EF405E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2990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eps_revision_60d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eps_revision_breadth_60d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sue_latest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1B635-1424-4633-A7D0-3582C358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5191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D3ACF-9E9B-4417-8A06-2DBEF949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484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B925F"/>
                </a:solidFill>
              </a:defRPr>
            </a:pPr>
            <a:r>
              <a:rPr sz="1650" b="1">
                <a:solidFill>
                  <a:srgbClr val="4B925F"/>
                </a:solidFill>
              </a:rPr>
              <a:t>财务质量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61AEB-41F9-47C5-9226-1FB85B2E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4848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cash_earnings_quality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gross_margin_stability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roe_quality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leverage_risk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2AFE1-816C-4D85-8E3B-27CB6AD3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67075"/>
            <a:ext cx="5191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E9056-0F17-4A59-9F4D-ACFF7B27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19475"/>
            <a:ext cx="4848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F3557"/>
                </a:solidFill>
              </a:defRPr>
            </a:pPr>
            <a:r>
              <a:rPr sz="1650" b="1">
                <a:solidFill>
                  <a:srgbClr val="1F3557"/>
                </a:solidFill>
              </a:rPr>
              <a:t>已有反转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CB996-8D5B-4034-BFE2-14705912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00475"/>
            <a:ext cx="4848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reverse_20d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5D1D6-4DE3-4C37-95E5-CB93C5A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3557"/>
                </a:solidFill>
              </a:defRPr>
            </a:pPr>
            <a:r>
              <a:rPr sz="1425" b="1">
                <a:solidFill>
                  <a:srgbClr val="1F3557"/>
                </a:solidFill>
              </a:rPr>
              <a:t>因子值在模型阶段按 T 日横截面去极值、标准化；缺失不直接删行，而是保留缺失标记。</a:t>
            </a:r>
          </a:p>
        </p:txBody>
      </p:sp>
    </p:spTree>
    <p:extLst>
      <p:ext uri="{BB962C8B-B14F-4D97-AF65-F5344CB8AC3E}">
        <p14:creationId xmlns:p14="http://schemas.microsoft.com/office/powerpoint/2010/main" val="1718576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A725B7-4EDB-4758-A1EC-AE33282D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五个模型使用同一套输入，差异集中在损失函数与模型结构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759E6-E3B5-41B3-927D-5B929B63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这样比较结果时，能把“输入差异”与“模型差异”分开。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3645A-245A-4B15-A031-B4B805D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D23DA-C42C-4950-9E54-963230B5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07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3BDC5-980F-4847-B80D-5BDB8E2E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F3848-C712-480E-9F43-8257D6B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71625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16B26"/>
                </a:solidFill>
              </a:defRPr>
            </a:pPr>
            <a:r>
              <a:rPr sz="1200" b="1">
                <a:solidFill>
                  <a:srgbClr val="A16B26"/>
                </a:solidFill>
              </a:rPr>
              <a:t>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683AD-EBEB-499D-965E-86E46C1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049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16B6D-0B1C-4137-B4AA-76FF6815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571625"/>
            <a:ext cx="2200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16B26"/>
                </a:solidFill>
              </a:defRPr>
            </a:pPr>
            <a:r>
              <a:rPr sz="1200" b="1">
                <a:solidFill>
                  <a:srgbClr val="A16B26"/>
                </a:solidFill>
              </a:rPr>
              <a:t>模型类型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6E5B6-057D-4A3F-8BCB-A578654B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5049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AF208-7B3C-427B-9978-D8FCBB94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71625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16B26"/>
                </a:solidFill>
              </a:defRPr>
            </a:pPr>
            <a:r>
              <a:rPr sz="1200" b="1">
                <a:solidFill>
                  <a:srgbClr val="A16B26"/>
                </a:solidFill>
              </a:rPr>
              <a:t>训练目标 / 损失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DEE73-7DD7-4E15-B050-21ACB85F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04950"/>
            <a:ext cx="3667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159CE-DC4C-4E0D-BE49-FFC9AE18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71625"/>
            <a:ext cx="3533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16B26"/>
                </a:solidFill>
              </a:defRPr>
            </a:pPr>
            <a:r>
              <a:rPr sz="1200" b="1">
                <a:solidFill>
                  <a:srgbClr val="A16B26"/>
                </a:solidFill>
              </a:rPr>
              <a:t>使用场景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21BCB-ED6E-436B-A489-C9065C92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F1319-1004-4650-B9D1-81179D9D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098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Ridge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E8550-785B-4016-B13B-4192532C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26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0BC7B-62CC-4E2A-8017-D34A011E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2098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线性排序回归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9166C-70A4-40E5-A4EB-7B403FEC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526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5EACD-DE4B-4CF4-A232-FB72CA9F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098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MSE / squared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CF73F-DA00-47EB-BCC1-C7760A32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52650"/>
            <a:ext cx="3667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79E75-14BA-4C16-B45D-89D6094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09800"/>
            <a:ext cx="3533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线性基准，解释性强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263AF-7217-4D71-8861-7365070F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986F5-91F7-4D06-8B98-4BB9B384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575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XGBoost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913FD-B4E9-4812-BE8C-A8436E86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03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DDC46-EA50-4C71-B5DB-029F113D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575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树模型回归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6DDEB-8350-49E8-A351-4249EE1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003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30FC7C-9755-4B29-8D69-055B03AC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57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MSE / squared error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045F5-6085-4D51-97B2-BFA05F8F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00350"/>
            <a:ext cx="3667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71914-8D8C-4374-9969-09B606C5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3533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捕捉非线性与交互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9FECF-0017-452E-AE9A-CAA38E99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CA3D3A-5DA0-42F1-8B32-2A066E84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052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LightGBM 回归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32739-28D0-4AFF-B925-CBDA7C05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480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30262B-6445-45C4-8955-38A2CC83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052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树模型回归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955528-0786-4F4A-BBAB-DBD022C9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4480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331813-99B6-4D54-850F-C23105EA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052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MSE / squared error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59D354-0054-4478-B5C1-BF2E97A0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48050"/>
            <a:ext cx="3667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4CDB73-EAFB-4CAD-AAB9-2676E0D9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05200"/>
            <a:ext cx="3533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更快的梯度提升树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3E9FFC-F503-4AD1-8303-CB6B0001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1CC603-6B8D-450E-8F0E-46A39686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529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LambdaRank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D02D7E-24F1-4BF1-B188-610503DA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6BF79C-5C00-4EC4-BC79-97CC007B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1529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44052"/>
                </a:solidFill>
              </a:defRPr>
            </a:pPr>
            <a:r>
              <a:rPr sz="1200" b="1">
                <a:solidFill>
                  <a:srgbClr val="344052"/>
                </a:solidFill>
              </a:rPr>
              <a:t>原生学习排序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0C9AA2-94FE-4CFD-BECD-63174FFC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957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8E65DD-69F4-4D87-A870-AEA37D8A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529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44052"/>
                </a:solidFill>
              </a:defRPr>
            </a:pPr>
            <a:r>
              <a:rPr sz="1200" b="1">
                <a:solidFill>
                  <a:srgbClr val="344052"/>
                </a:solidFill>
              </a:rPr>
              <a:t>LambdaRank + NDCG@100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3197FE-8F1D-4471-8F44-C427A3DA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095750"/>
            <a:ext cx="3667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D699CF-C49C-4DB4-A35C-815C3B70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52900"/>
            <a:ext cx="3533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44052"/>
                </a:solidFill>
              </a:defRPr>
            </a:pPr>
            <a:r>
              <a:rPr sz="1200" b="1">
                <a:solidFill>
                  <a:srgbClr val="344052"/>
                </a:solidFill>
              </a:rPr>
              <a:t>直接对 Top100 排序优化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CC624E-743E-4573-80CA-568329A9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9FA6D4-9A17-4FD7-94C6-3C015D32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006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MLP Hybrid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6555C6-3AB4-40CD-95EC-BEEEB8B2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434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7BB3F1-F076-43B8-BCB5-C649816D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800600"/>
            <a:ext cx="2200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神经网络排序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A7DCD7-D65C-45C1-A28A-0D68DE5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7434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DA7935-AFF5-479E-9540-36FE3F62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006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MSE + 0.1 pairwise logistic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7C52C4-291B-4A7A-8995-4EC3BCE9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43450"/>
            <a:ext cx="3667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D9BC85-A2C9-403F-A20A-AE438729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00600"/>
            <a:ext cx="3533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344052"/>
                </a:solidFill>
              </a:defRPr>
            </a:pPr>
            <a:r>
              <a:rPr sz="1200" b="0">
                <a:solidFill>
                  <a:srgbClr val="344052"/>
                </a:solidFill>
              </a:rPr>
              <a:t>同时学习数值误差与相对顺序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E05A2A-BA87-4E78-B45E-A5166B5A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3557"/>
                </a:solidFill>
              </a:defRPr>
            </a:pPr>
            <a:r>
              <a:rPr sz="1500" b="1">
                <a:solidFill>
                  <a:srgbClr val="1F3557"/>
                </a:solidFill>
              </a:rPr>
              <a:t>共同点：每天一个横截面组；训练样本按日期等权，避免交易日股票数量差异改变整体权重。</a:t>
            </a:r>
          </a:p>
        </p:txBody>
      </p:sp>
    </p:spTree>
    <p:extLst>
      <p:ext uri="{BB962C8B-B14F-4D97-AF65-F5344CB8AC3E}">
        <p14:creationId xmlns:p14="http://schemas.microsoft.com/office/powerpoint/2010/main" val="10194198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E5FE6-9853-4289-90AA-EAB467CF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线性基准与树模型：用同一 rank target 看非线性是否带来增量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EAEA5-7148-4A3E-B0DC-A7A5F115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参数在 2023 验证期确定，之后最终模型用 2019–2023 重训并冻结。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44D6E-5558-4B5E-A828-37715D1E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3D1CE-FB70-4BD9-81CD-6B427942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08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D2737-5A9E-473A-844D-2366449D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839A9-0B14-474A-9C8A-928C44F0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859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D63B4"/>
                </a:solidFill>
              </a:defRPr>
            </a:pPr>
            <a:r>
              <a:rPr sz="1800" b="1">
                <a:solidFill>
                  <a:srgbClr val="2D63B4"/>
                </a:solidFill>
              </a:rPr>
              <a:t>Ridge rank 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38C49-502A-4FBD-AD63-A0C8DF3F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objective = squared_error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lambda = 1.0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fit_intercept = true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solver = cholesky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date_weighting = equal_total_per_date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作用：提供最简单的线性基准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E3FF2-E6D7-401D-8A84-7F4E1344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334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5EF2C-BA12-492B-8BD3-5E5B9475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85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D8782A"/>
                </a:solidFill>
              </a:defRPr>
            </a:pPr>
            <a:r>
              <a:rPr sz="1800" b="1">
                <a:solidFill>
                  <a:srgbClr val="D8782A"/>
                </a:solidFill>
              </a:rPr>
              <a:t>XGBoost rank 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3E290-3F05-4B15-BB21-9D95CCE2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3837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objective = reg:squarederror；eval_metric = rmse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81 轮；eta = 0.05；max_depth = 4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min_child_weight = 100；subsample = 0.8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colsample_bytree = 0.8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lambda = 10；alpha = 0.1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tree_method = hist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67D58-E277-49F1-8B2B-D7E390F4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3557"/>
                </a:solidFill>
              </a:defRPr>
            </a:pPr>
            <a:r>
              <a:rPr sz="1425" b="1">
                <a:solidFill>
                  <a:srgbClr val="1F3557"/>
                </a:solidFill>
              </a:rPr>
              <a:t>Ridge回答“线性关系够不够”；XGBoost回答“非线性和交互能否提升排序”。</a:t>
            </a:r>
          </a:p>
        </p:txBody>
      </p:sp>
    </p:spTree>
    <p:extLst>
      <p:ext uri="{BB962C8B-B14F-4D97-AF65-F5344CB8AC3E}">
        <p14:creationId xmlns:p14="http://schemas.microsoft.com/office/powerpoint/2010/main" val="948837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E648B-F7BD-4A30-9814-772B14D0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LightGBM 回归与 LambdaRank：同一树结构，不同优化目标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5E184-1367-4FCA-848B-EE291F67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LambdaRank 把日期作为 group，训练目标直接围绕 NDCG@100。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6F0B1-405C-4CBF-9CA4-5A030688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14F9B-6AA0-4F0C-BA27-8B1B503D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09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7B157-B509-49C9-AC3E-A2DE96E0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521970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2A11B-648B-4056-BC40-67069A72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4B925F"/>
                </a:solidFill>
              </a:defRPr>
            </a:pPr>
            <a:r>
              <a:rPr sz="1725" b="1">
                <a:solidFill>
                  <a:srgbClr val="4B925F"/>
                </a:solidFill>
              </a:rPr>
              <a:t>LightGBM rank 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3C1ED-02BB-45DB-BF28-9216DA49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objective = regression；metric = rmse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21 轮；learning_rate = 0.05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num_leaves = 31；max_depth = 5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min_data_in_leaf = 1000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feature_fraction / bagging_fraction = 0.8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lambda_l1 = 0.1；lambda_l2 =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60456-F3D7-4628-9654-9E8A8D0A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47800"/>
            <a:ext cx="521970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6717A-12D1-4AEC-8300-C9BB1EA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145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8A87"/>
                </a:solidFill>
              </a:defRPr>
            </a:pPr>
            <a:r>
              <a:rPr sz="1725" b="1">
                <a:solidFill>
                  <a:srgbClr val="168A87"/>
                </a:solidFill>
              </a:rPr>
              <a:t>LightGBM LambdaRank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5B9DD-1491-419B-B989-48B27BBD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38375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objective = lambdarank；metric = ndcg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按 date 分组；ndcg_eval_at = [100]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lambdarank_truncation_level = 100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rank_target × 100 取 floor，裁剪到 [0,99]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21 轮；learning_rate = 0.05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与回归版相同的树复杂度与正则化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587A0-B530-4800-AB58-7D6C6378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3557"/>
                </a:solidFill>
              </a:defRPr>
            </a:pPr>
            <a:r>
              <a:rPr sz="1425" b="1">
                <a:solidFill>
                  <a:srgbClr val="1F3557"/>
                </a:solidFill>
              </a:rPr>
              <a:t>核心差别：回归版尽量拟合 rank 数值；LambdaRank 更关注把最值得进入 Top100 的股票排在前面。</a:t>
            </a:r>
          </a:p>
        </p:txBody>
      </p:sp>
    </p:spTree>
    <p:extLst>
      <p:ext uri="{BB962C8B-B14F-4D97-AF65-F5344CB8AC3E}">
        <p14:creationId xmlns:p14="http://schemas.microsoft.com/office/powerpoint/2010/main" val="1614872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228D6-0846-42AC-80DE-8E8B5DAC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MLP Hybrid 同时优化收益数值和相对排序，但复杂度最高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31BB1-90CF-40E8-B396-E7352006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神经网络不是自动更强；它必须在验证期证明自己能改善 Top100 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31290-76E1-4E0E-8BAF-EED9E809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B85E0-8EB6-4F8D-B46F-EB5EB4A3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10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B127A-06B6-4A36-B344-5ED3E65E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4572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FA004-73B7-454B-8FC2-144878DA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B23A3A"/>
                </a:solidFill>
              </a:defRPr>
            </a:pPr>
            <a:r>
              <a:rPr sz="1725" b="1">
                <a:solidFill>
                  <a:srgbClr val="B23A3A"/>
                </a:solidFill>
              </a:rPr>
              <a:t>结构与优化器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52C29-1E1C-4518-9AED-922B14A6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38375"/>
            <a:ext cx="4000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hidden_layers = [128, 64, 32]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activation = ReLU；dropout = 0.1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optimizer = AdamW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learning_rate = 0.0003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weight_decay = 0.0001</a:t>
            </a:r>
          </a:p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•  gradient_clip_norm = 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473C4-C144-476E-8EA1-1795B0A7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76375"/>
            <a:ext cx="56578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C6E6A-706C-4716-8FA5-A47B5CB0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B23A3A"/>
                </a:solidFill>
              </a:defRPr>
            </a:pPr>
            <a:r>
              <a:rPr sz="1725" b="1">
                <a:solidFill>
                  <a:srgbClr val="B23A3A"/>
                </a:solidFill>
              </a:rPr>
              <a:t>损失与采样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D0246-6651-40F4-9D11-96897CF4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38375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总损失 = equal_date_MSE + 0.1 × pairwise_logistic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日期 batch = 8 个交易日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每个正样本抽取 boundary pairs = 4、broad pairs = 4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按 Top100 边界与更宽范围抽 pair，减少全量两两组合的计算量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最多 30 epochs；patience = 4；验证指标为 mean daily NDCG@100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B19EA-885D-48BC-AAB3-24566BE4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3557"/>
                </a:solidFill>
              </a:defRPr>
            </a:pPr>
            <a:r>
              <a:rPr sz="1425" b="1">
                <a:solidFill>
                  <a:srgbClr val="1F3557"/>
                </a:solidFill>
              </a:rPr>
              <a:t>结果提示：MLP 的 Precision@100 较高，但 Rank IC、NDCG 和最终策略收益并未同步领先。</a:t>
            </a:r>
          </a:p>
        </p:txBody>
      </p:sp>
    </p:spTree>
    <p:extLst>
      <p:ext uri="{BB962C8B-B14F-4D97-AF65-F5344CB8AC3E}">
        <p14:creationId xmlns:p14="http://schemas.microsoft.com/office/powerpoint/2010/main" val="307075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F074699-742A-4CA5-853B-84DF6E3B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锁定测试模型指标：XGBoost整体占优，LambdaRank的NDCG@100居前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13930-B82F-4357-8B0A-B77CD4A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指标来自 2024–2025 锁定测试；不把任何测试结果用于重新调参。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7FFB8-1919-42DB-A75B-825BA0E8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8E671-3EA6-4746-AA9F-D04FC0B2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11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C6B1A-1DAB-4A5F-AE7F-E1AB27CE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BC100-1DF8-439D-85D3-3C3686D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43050"/>
            <a:ext cx="1676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16B26"/>
                </a:solidFill>
              </a:defRPr>
            </a:pPr>
            <a:r>
              <a:rPr sz="1125" b="1">
                <a:solidFill>
                  <a:srgbClr val="A16B26"/>
                </a:solidFill>
              </a:rPr>
              <a:t>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B82A4-487C-4F7E-AE2B-D0862E7F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76375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D91C2-5C4E-43CF-B570-385940FD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543050"/>
            <a:ext cx="1295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16B26"/>
                </a:solidFill>
              </a:defRPr>
            </a:pPr>
            <a:r>
              <a:rPr sz="1125" b="1">
                <a:solidFill>
                  <a:srgbClr val="A16B26"/>
                </a:solidFill>
              </a:rPr>
              <a:t>Rank 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601BB-AFB8-4026-9644-7C900418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476375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4A207-86DA-4ADB-8DB8-F752056C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543050"/>
            <a:ext cx="1295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16B26"/>
                </a:solidFill>
              </a:defRPr>
            </a:pPr>
            <a:r>
              <a:rPr sz="1125" b="1">
                <a:solidFill>
                  <a:srgbClr val="A16B26"/>
                </a:solidFill>
              </a:rPr>
              <a:t>Rank ICIR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40203-3BEB-42FA-B8D0-9342903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476375"/>
            <a:ext cx="161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6A6A6-80B3-4333-BF02-E786D350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543050"/>
            <a:ext cx="1485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16B26"/>
                </a:solidFill>
              </a:defRPr>
            </a:pPr>
            <a:r>
              <a:rPr sz="1125" b="1">
                <a:solidFill>
                  <a:srgbClr val="A16B26"/>
                </a:solidFill>
              </a:rPr>
              <a:t>Pairwise Acc.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B2D2E-81A9-44F6-A359-D49C5C5C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76375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42385-FA9C-4C9F-B2E8-B194ED42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543050"/>
            <a:ext cx="1295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16B26"/>
                </a:solidFill>
              </a:defRPr>
            </a:pPr>
            <a:r>
              <a:rPr sz="1125" b="1">
                <a:solidFill>
                  <a:srgbClr val="A16B26"/>
                </a:solidFill>
              </a:rPr>
              <a:t>NDCG@100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248DA-0EF5-41D9-8B82-EB5F50A9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A6AF7-DCC2-4653-82E9-083DC6A7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43050"/>
            <a:ext cx="1390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16B26"/>
                </a:solidFill>
              </a:defRPr>
            </a:pPr>
            <a:r>
              <a:rPr sz="1125" b="1">
                <a:solidFill>
                  <a:srgbClr val="A16B26"/>
                </a:solidFill>
              </a:rPr>
              <a:t>Precision@100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FE89B-080A-4CF5-BDED-FFD5D747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763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0CAAA-F8F6-46BD-ADE0-6C1C1E52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543050"/>
            <a:ext cx="1390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16B26"/>
                </a:solidFill>
              </a:defRPr>
            </a:pPr>
            <a:r>
              <a:rPr sz="1125" b="1">
                <a:solidFill>
                  <a:srgbClr val="A16B26"/>
                </a:solidFill>
              </a:rPr>
              <a:t>Jaccard@100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01C92-E917-446D-8AAB-5DF74C95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A7A11-74AA-4932-9B6C-C1620C58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14550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Ridge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C5801-5747-4C69-B613-7E8AC99F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5740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7EDC6-048D-4836-B752-46676525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14550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0.0877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A7006-1BDE-4346-B723-4494FA8F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5740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63B57-3854-4A36-9E0E-4BFE06A7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14550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0.5857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FE6ECC-4192-4736-B46F-79155A17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161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BCCC2-36FE-45C6-B0F8-F3980C9B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114550"/>
            <a:ext cx="1485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0.5299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DC8DE7-7683-4D17-BBA5-594314D7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5740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3584A9-7A44-4D1A-9749-A46B8ED4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14550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0.4886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EB2D8C-04B4-4E6E-9B49-EEE20805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574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1C916-A23D-40A0-846C-2EC8F846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14550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6.25%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E06D7A-A3FA-4AE3-A410-A9A5595A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574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9D43C4-0397-4518-930E-45257F87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114550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0.0327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8478F-C33E-4B0B-AF49-9F1AC4B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38425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F35053-3361-4F4C-ACB1-AAE0EC9A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95575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XGBoost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6A8A7D-15F0-415D-9C9F-27DC959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38425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0AC3B7-64EB-4E4C-A2A2-F2E5A522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95575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0.0909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1D30CD-5EA7-45DC-B303-5B59A2EA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38425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DD3B68-C3FA-41DD-A439-65B2C541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95575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0.6018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93BFA5-9F3C-4E82-9FF5-C446CC4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38425"/>
            <a:ext cx="161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8CA6B3-89DF-4FC9-8896-4C586466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95575"/>
            <a:ext cx="1485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0.5310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6081BB-8558-4F24-BFC3-59BC518B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38425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B9A281-12F8-47BC-B9A0-362D2297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95575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0.4960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5F0420-6C63-431B-954C-B4153B8C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384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F99DF4-A44B-46C3-9653-0C884E0C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95575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6.57%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38A0B8-ED82-480A-99B9-54B41B3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384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B4B2DC-DEDC-4428-8B46-C53E4510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95575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0.0344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1077E8-45BA-4E58-9A8F-FC8A8D9D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84CCB5-35CE-4B23-AE10-82EFC3CC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76600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LightGBM 回归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CCC1FF-47F2-4DB1-B958-20147F36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0464B2-7CA9-4CC1-84AB-8079DC95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76600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0.0884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D771F5-BC3E-44E5-82C6-A2DFE8D7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0B8C6D-D248-4ED3-B2CC-3208A78A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276600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0.5714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FAFEC3-3C2D-43A6-9AF0-834B5DBA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161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439E7D-4218-4722-BEFD-6EF27D6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276600"/>
            <a:ext cx="1485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0.5301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74B0E7-B228-4EFC-89AC-2FE98BBC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184D88-17B4-4950-BF13-2156E2B6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276600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0.4918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BF2F5F-8E43-42EC-BB3F-478BB656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C6F6D9-175B-4F8C-AF07-096F7A40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76600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5.94%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D06B43-B46C-4D93-B4C8-295F8AC1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194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513BD5-60B1-4263-B830-F4185099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76600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0.0311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5AA9C9-E5CE-4952-AD20-00A4D08D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00475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AD6183-13E8-41A7-A553-4970E33D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57625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LambdaRank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4C1852-809F-40B4-B9F4-4676E566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00475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9C8462-31F8-4ECD-9744-9F70B04F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57625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44052"/>
                </a:solidFill>
              </a:defRPr>
            </a:pPr>
            <a:r>
              <a:rPr sz="1125" b="1">
                <a:solidFill>
                  <a:srgbClr val="344052"/>
                </a:solidFill>
              </a:rPr>
              <a:t>0.0734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E7D5F5-9C85-436D-80AA-8A46C366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00475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280167-6A82-4218-92AB-A5521A8F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57625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44052"/>
                </a:solidFill>
              </a:defRPr>
            </a:pPr>
            <a:r>
              <a:rPr sz="1125" b="1">
                <a:solidFill>
                  <a:srgbClr val="344052"/>
                </a:solidFill>
              </a:rPr>
              <a:t>0.5186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E68559-E6CD-45D7-8A68-BAE4216B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00475"/>
            <a:ext cx="161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4F0C42-053F-4E31-9125-12E8A60D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857625"/>
            <a:ext cx="1485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44052"/>
                </a:solidFill>
              </a:defRPr>
            </a:pPr>
            <a:r>
              <a:rPr sz="1125" b="1">
                <a:solidFill>
                  <a:srgbClr val="344052"/>
                </a:solidFill>
              </a:rPr>
              <a:t>0.5248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8C1DAA-EE07-4685-8692-8EBE2A67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00475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D3C818-9244-4334-B434-1DA28FE5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57625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44052"/>
                </a:solidFill>
              </a:defRPr>
            </a:pPr>
            <a:r>
              <a:rPr sz="1125" b="1">
                <a:solidFill>
                  <a:srgbClr val="344052"/>
                </a:solidFill>
              </a:rPr>
              <a:t>0.4964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CE6526-C7CD-4518-85B0-1DF70056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004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9B0EAE-BCAA-48AB-B210-53C91D44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857625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44052"/>
                </a:solidFill>
              </a:defRPr>
            </a:pPr>
            <a:r>
              <a:rPr sz="1125" b="1">
                <a:solidFill>
                  <a:srgbClr val="344052"/>
                </a:solidFill>
              </a:rPr>
              <a:t>6.37%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CBAEB52-8473-482E-A477-3CC59E33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004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90B9ECB-405A-4CF9-9A3C-8BD87F55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857625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44052"/>
                </a:solidFill>
              </a:defRPr>
            </a:pPr>
            <a:r>
              <a:rPr sz="1125" b="1">
                <a:solidFill>
                  <a:srgbClr val="344052"/>
                </a:solidFill>
              </a:rPr>
              <a:t>0.0333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672A9A-BA15-4B3A-8974-598DB983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1809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7B3AC2-0B25-4D37-B482-F9BEC57B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38650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MLP Hybrid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2D8B95-C755-409D-96BB-20C9492A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8150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3D0E8A9-A7C1-472B-B9D0-C51EFFCE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438650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0.0565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AB341B-8B64-40AC-BD25-A20CB6CA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8150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0FF94F-5793-46EF-B088-8465CCCE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38650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0.2993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B32D35-646E-4FC8-92CC-1511449E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81500"/>
            <a:ext cx="1619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5FE256A-C35E-4291-B799-77843C45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438650"/>
            <a:ext cx="1485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0.5194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E6BE71-727F-4B30-941D-48C12D3E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B055743-07BB-4288-9903-E43A0C4D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438650"/>
            <a:ext cx="1295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0.4848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7AD0E5-E6E4-45E8-A8D9-4DC95164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815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DB64757-723F-4346-B88A-A491CA07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38650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8.78%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E8BEE3F-8B31-41B5-8096-C4161D94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815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A3F0A0-73E0-43D0-B176-5771E8A8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438650"/>
            <a:ext cx="1390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052"/>
                </a:solidFill>
              </a:defRPr>
            </a:pPr>
            <a:r>
              <a:rPr sz="1125" b="0">
                <a:solidFill>
                  <a:srgbClr val="344052"/>
                </a:solidFill>
              </a:rPr>
              <a:t>0.0468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191D0F3-0D5E-44F8-B2BB-A2AA2965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06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1FA35B4-06B2-4F26-8798-54728478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8A87"/>
                </a:solidFill>
              </a:defRPr>
            </a:pPr>
            <a:r>
              <a:rPr sz="1500" b="1">
                <a:solidFill>
                  <a:srgbClr val="168A87"/>
                </a:solidFill>
              </a:rPr>
              <a:t>怎么看这张表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67A3578-617B-4E0B-B05A-A045DB96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95875"/>
            <a:ext cx="833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XGBoost 在 Rank IC、Rank ICIR、Pairwise Accuracy 和 NDCG@100 上整体占优；LambdaRank 的 NDCG@100 为 0.4964，接近最高，但其测试 Rank IC 为 0.0734。MLP 的 Precision@100 较高，然而综合排序质量和策略结果较弱。</a:t>
            </a:r>
          </a:p>
        </p:txBody>
      </p:sp>
    </p:spTree>
    <p:extLst>
      <p:ext uri="{BB962C8B-B14F-4D97-AF65-F5344CB8AC3E}">
        <p14:creationId xmlns:p14="http://schemas.microsoft.com/office/powerpoint/2010/main" val="5864536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B20C84-40A1-41AC-BDA5-3ACFEE17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策略验收口径：Top100、10日持有、交错 offset 和真实换仓约束保持一致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71585-9C87-43B3-98B3-55D41AB3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2024–2025 共 484 个交易日；每个模型使用同一策略逻辑。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349E5-6A4D-402B-9B8A-7679006D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05F17-EAFD-4F49-A629-96206290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12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73510-41FF-4C71-9114-53996A9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952625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3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92984-26AE-48AF-A160-4D74BBDC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D63B4"/>
                </a:solidFill>
              </a:defRPr>
            </a:pPr>
            <a:r>
              <a:rPr sz="1575" b="1">
                <a:solidFill>
                  <a:srgbClr val="2D63B4"/>
                </a:solidFill>
              </a:rPr>
              <a:t>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3D0BD-50E3-4F38-9BD0-4C12BAAA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T 日收盘形成模型排名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选取 Top100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AF8D7-C530-4B4A-B52D-DEAC2470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38300"/>
            <a:ext cx="1952625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A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821BC-9EA1-493C-92F5-DB2D9FD3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19275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8A87"/>
                </a:solidFill>
              </a:defRPr>
            </a:pPr>
            <a:r>
              <a:rPr sz="1575" b="1">
                <a:solidFill>
                  <a:srgbClr val="168A87"/>
                </a:solidFill>
              </a:rPr>
              <a:t>持有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BC2C5-C3B6-459B-B575-F3836838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T+1 开盘进入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10 个交易日窗口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66766-62DD-4AB1-94AD-24EFED19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38300"/>
            <a:ext cx="1952625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78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183C6-ECAE-4BB3-A0F6-871A2723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19275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8782A"/>
                </a:solidFill>
              </a:defRPr>
            </a:pPr>
            <a:r>
              <a:rPr sz="1575" b="1">
                <a:solidFill>
                  <a:srgbClr val="D8782A"/>
                </a:solidFill>
              </a:rPr>
              <a:t>交错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39FEF-4DA2-42CE-BED7-BFD1A17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offset 1–10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覆盖所有换仓起点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7C791-6360-44CE-9919-5E573DE3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38300"/>
            <a:ext cx="1952625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92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439F5-FE93-4470-9C0C-FA1FED3D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19275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4B925F"/>
                </a:solidFill>
              </a:defRPr>
            </a:pPr>
            <a:r>
              <a:rPr sz="1575" b="1">
                <a:solidFill>
                  <a:srgbClr val="4B925F"/>
                </a:solidFill>
              </a:rPr>
              <a:t>执行约束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C3E35-CE6A-43FE-99E4-0E247CF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38375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持仓不重复卖买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无法成交不递补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FF2A7-52E7-4B71-87C6-A9C7D465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38300"/>
            <a:ext cx="1952625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5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E81D7-A085-4359-8650-E6B3F055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19275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3557"/>
                </a:solidFill>
              </a:defRPr>
            </a:pPr>
            <a:r>
              <a:rPr sz="1575" b="1">
                <a:solidFill>
                  <a:srgbClr val="1F3557"/>
                </a:solidFill>
              </a:rPr>
              <a:t>统计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81100-F913-4956-80E9-48A0BFEB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38375"/>
            <a:ext cx="1724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累计收益、CAGR、</a:t>
            </a:r>
          </a:p>
          <a:p xmlns:a="http://schemas.openxmlformats.org/drawingml/2006/main">
            <a:pPr algn="ctr"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Sharpe、回撤、成本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9073F-F974-40E8-9832-205E39BD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4476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6AA0F-6D34-4B20-A55E-D593D196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43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8782A"/>
                </a:solidFill>
              </a:defRPr>
            </a:pPr>
            <a:r>
              <a:rPr sz="1650" b="1">
                <a:solidFill>
                  <a:srgbClr val="D8782A"/>
                </a:solidFill>
              </a:rPr>
              <a:t>为什么用交错 offset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986F3-3817-4B96-8176-F42E3217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如果只在固定第1天换仓，结果可能被某个特定日期的市场状态主导。offset 1–10 分别启动，可以观察策略对换仓起点的敏感性。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F33E8-847C-455F-9C66-066A8CFE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71875"/>
            <a:ext cx="5238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F6EBB-B380-461E-BD84-8EBA0EA2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F3557"/>
                </a:solidFill>
              </a:defRPr>
            </a:pPr>
            <a:r>
              <a:rPr sz="1650" b="1">
                <a:solidFill>
                  <a:srgbClr val="1F3557"/>
                </a:solidFill>
              </a:rPr>
              <a:t>测试的限制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516EF-CFE3-440B-8C18-F2E52F21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62425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这张图是静态策略回测，不是实时成交记录；成交限制、涨跌停、停牌等执行规则按既定回测合同处理，实际 Matic 执行由下游系统负责。</a:t>
            </a:r>
          </a:p>
        </p:txBody>
      </p:sp>
    </p:spTree>
    <p:extLst>
      <p:ext uri="{BB962C8B-B14F-4D97-AF65-F5344CB8AC3E}">
        <p14:creationId xmlns:p14="http://schemas.microsoft.com/office/powerpoint/2010/main" val="1050444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DA3ACA7-1F91-4792-AB92-4207FCE0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10日交错换仓平均结果：XGBoost CAGR最高，LambdaRank Sharpe与成本更优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9CABF-64E2-4FAE-ABAA-0B9F91FD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表内指标为10个 offset 路径各自回测指标的算术平均；回测区间：2024–2025。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190F6-9651-4D78-8C27-260611EC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403E6-B40C-4592-83B5-AA5BA208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13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CF76F-7EE8-431A-A22E-B82AB7D5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1571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DAFB0-2470-4DB4-94CA-6437D92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495425"/>
            <a:ext cx="1438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16B26"/>
                </a:solidFill>
              </a:defRPr>
            </a:pPr>
            <a:r>
              <a:rPr sz="1050" b="1">
                <a:solidFill>
                  <a:srgbClr val="A16B26"/>
                </a:solidFill>
              </a:rPr>
              <a:t>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C0397-CA4D-4669-BE91-73F45F0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7F32F-CA1C-4D4E-AF0B-59754DCC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95425"/>
            <a:ext cx="112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16B26"/>
                </a:solidFill>
              </a:defRPr>
            </a:pPr>
            <a:r>
              <a:rPr sz="1050" b="1">
                <a:solidFill>
                  <a:srgbClr val="A16B26"/>
                </a:solidFill>
              </a:rPr>
              <a:t>累计收益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B2760-1E91-408B-8E5C-34A6106F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428750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8544C-F2CF-4E73-BB90-15B498A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95425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16B26"/>
                </a:solidFill>
              </a:defRPr>
            </a:pPr>
            <a:r>
              <a:rPr sz="1050" b="1">
                <a:solidFill>
                  <a:srgbClr val="A16B26"/>
                </a:solidFill>
              </a:rPr>
              <a:t>CAGR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44862-7915-4CDD-98B2-073EB381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428750"/>
            <a:ext cx="123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59395-51B7-465B-A507-155A4E93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95425"/>
            <a:ext cx="1104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16B26"/>
                </a:solidFill>
              </a:defRPr>
            </a:pPr>
            <a:r>
              <a:rPr sz="1050" b="1">
                <a:solidFill>
                  <a:srgbClr val="A16B26"/>
                </a:solidFill>
              </a:rPr>
              <a:t>年化波动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1F682-BE84-4C08-8150-FBC668CC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28750"/>
            <a:ext cx="1047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EFDFF-517A-4130-80B6-A71D7B8B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95425"/>
            <a:ext cx="91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16B26"/>
                </a:solidFill>
              </a:defRPr>
            </a:pPr>
            <a:r>
              <a:rPr sz="1050" b="1">
                <a:solidFill>
                  <a:srgbClr val="A16B26"/>
                </a:solidFill>
              </a:rPr>
              <a:t>Sharpe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6FCC5-97A1-4878-A28C-304A44A4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428750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318DA-FC7F-4402-95AE-210A6C96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95425"/>
            <a:ext cx="112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16B26"/>
                </a:solidFill>
              </a:defRPr>
            </a:pPr>
            <a:r>
              <a:rPr sz="1050" b="1">
                <a:solidFill>
                  <a:srgbClr val="A16B26"/>
                </a:solidFill>
              </a:rPr>
              <a:t>最大回撤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E30F3-FDF1-41EA-AB28-D82B842C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428750"/>
            <a:ext cx="1143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B672F-673B-45E0-A12F-24E80FB5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95425"/>
            <a:ext cx="1009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16B26"/>
                </a:solidFill>
              </a:defRPr>
            </a:pPr>
            <a:r>
              <a:rPr sz="1050" b="1">
                <a:solidFill>
                  <a:srgbClr val="A16B26"/>
                </a:solidFill>
              </a:rPr>
              <a:t>胜率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1E90E-58E8-439F-AA4F-905EC08D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428750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60D3D-EAB5-46AE-B6B0-D95B7CC0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95425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16B26"/>
                </a:solidFill>
              </a:defRPr>
            </a:pPr>
            <a:r>
              <a:rPr sz="1050" b="1">
                <a:solidFill>
                  <a:srgbClr val="A16B26"/>
                </a:solidFill>
              </a:rPr>
              <a:t>单向换手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1179C-D73A-4EA5-BCCF-0B494507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428750"/>
            <a:ext cx="1200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E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66E0B-CD04-4617-B350-30CB531C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954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16B26"/>
                </a:solidFill>
              </a:defRPr>
            </a:pPr>
            <a:r>
              <a:rPr sz="1050" b="1">
                <a:solidFill>
                  <a:srgbClr val="A16B26"/>
                </a:solidFill>
              </a:rPr>
              <a:t>累计成本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09F57-5716-4B76-AC27-367354C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1675"/>
            <a:ext cx="1571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25441-C08D-4497-9031-A31C73B5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028825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Ridge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1B08D-7D75-43D0-8434-70EDD483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71675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F4B75D-2147-4910-A322-4C914909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28825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42.17%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43DBE1-95AB-40AC-9BAF-00CE2A05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971675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8B2572-DACB-4AD7-9EB6-8A02B5C9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2882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20.28%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173B3-D88F-4D22-9B1A-4D1795BE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71675"/>
            <a:ext cx="123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7487A-E2DE-4B1B-9E19-29C6E5C9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2882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29.36%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0A2EF1-5CAB-44AC-B086-75CA1253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971675"/>
            <a:ext cx="1047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D27B28-EFB4-415B-970F-D7ADE496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28825"/>
            <a:ext cx="91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0.769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A58EE-CF78-449A-9464-9B3BC304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71675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1AA452-D17F-4B75-A515-33C0255C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28825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27.95%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6E7C52-C606-486C-8B5D-BAEDCEF7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971675"/>
            <a:ext cx="1143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99D5F5-B148-4F47-A887-3EE1337C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28825"/>
            <a:ext cx="100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52.28%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7B41E4-E24F-48BB-A895-CF991AB0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971675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2410E1-B176-4AA2-BCB4-C523BAF8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2882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25.34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CA9EF7-72E6-4203-9273-5E5DB572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971675"/>
            <a:ext cx="1200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D444F9-446F-4D21-97CC-95ABDB70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28825"/>
            <a:ext cx="106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4.76%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C201F8-CBB2-4FE0-860D-4176B878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571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970E64-CF9D-4FB2-A960-C476824E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71750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XGBoost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990559-650E-4ABE-A0D9-942F66AD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14600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55CB81-1035-4B67-B866-E655BBE4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71750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51.11%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F8E7C9-E3A1-4466-AFDB-418AD9D0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14600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38DB2E-2664-4B01-AB01-7CC97090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7175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24.23%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F4ECB3-E97F-4D32-A6B2-9383056E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14600"/>
            <a:ext cx="123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2C1C2A-8B2E-4F38-A3C1-0AD6FE39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30.21%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09125F-1DC7-40EA-9363-98C549A3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14600"/>
            <a:ext cx="1047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E5568C-AFC9-4750-9BE2-1BE4F251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91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0.865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147266-DCD3-4E75-B948-5AF0C063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514600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F8A4A7-B280-4879-9A69-59F38B4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71750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27.74%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35206A-00DB-4225-B9AA-BD10F0AA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514600"/>
            <a:ext cx="1143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93BBE1-765F-4BC3-A8BF-156DCA0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100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54.85%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7AFF8B-A1D1-464E-B85E-A9131A55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14600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457D9D-0C28-4717-BE70-1F02362F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22.34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468547-4483-44AE-B7C9-7BE636F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514600"/>
            <a:ext cx="1200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21C105-E956-42CD-A95A-FE7D5531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06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4.32%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E3EE0C-685C-4721-8160-B4A3F753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57525"/>
            <a:ext cx="1571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2A82D9-9F47-4995-953F-5FF0604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114675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LightGBM 回归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8D5F2A-8652-41AD-998B-034C37F7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57525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96773C-0FA0-454F-8552-74D3EF2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14675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46.21%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63BF78-B708-4EF0-AFB6-1A3C32F1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57525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F05384-4A94-4EE0-ADCB-71124FF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1467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22.05%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22500D-147E-49BB-A8F0-F5AAC3B6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57525"/>
            <a:ext cx="123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60FDD8-AABE-4980-9302-2C88932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29.38%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CC0437-A306-472C-9C23-2A5D5F2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57525"/>
            <a:ext cx="1047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85129D-775C-4FAB-B647-18019544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14675"/>
            <a:ext cx="91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0.820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DD4753-7C0A-432F-AFF6-7CC1B82B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57525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79CA7C-5269-4691-A984-F329C34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14675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27.47%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15BBBC-8675-42F6-A1DA-EDADA04D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057525"/>
            <a:ext cx="1143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1A5C67-E88F-48A4-AA5E-9D37A2D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14675"/>
            <a:ext cx="100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54.97%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17184A-0B82-42FC-882D-85E58222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57525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D23D2F-B618-4D5D-952C-70403A4E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1467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24.78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17A21D-EF92-48FB-B639-4402EDFC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57525"/>
            <a:ext cx="1200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094BEE2-C938-4BB6-9FC5-6CF70834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14675"/>
            <a:ext cx="106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4.67%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584723-59A6-4BFA-8B70-AFB8FA81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00450"/>
            <a:ext cx="1571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F6C9A2-513D-4ABD-8477-618259EE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57600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2033"/>
                </a:solidFill>
              </a:defRPr>
            </a:pPr>
            <a:r>
              <a:rPr sz="1050" b="1">
                <a:solidFill>
                  <a:srgbClr val="172033"/>
                </a:solidFill>
              </a:rPr>
              <a:t>LambdaRank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BB5CE6-A0C8-450F-8D01-A7F1403B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00450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F01FDB1-942F-4F9A-A9B7-6F9792BB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57600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44052"/>
                </a:solidFill>
              </a:defRPr>
            </a:pPr>
            <a:r>
              <a:rPr sz="1050" b="1">
                <a:solidFill>
                  <a:srgbClr val="344052"/>
                </a:solidFill>
              </a:rPr>
              <a:t>49.61%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143625C-E6EA-4164-A634-802D8CB9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00450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57235D4-D4E4-47CF-91F6-9A6E149E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5760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44052"/>
                </a:solidFill>
              </a:defRPr>
            </a:pPr>
            <a:r>
              <a:rPr sz="1050" b="1">
                <a:solidFill>
                  <a:srgbClr val="344052"/>
                </a:solidFill>
              </a:rPr>
              <a:t>23.57%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4967397-4EA6-4470-85E2-12AC060A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123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EDEDD48-2D7F-4385-85F2-DBD12060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57600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44052"/>
                </a:solidFill>
              </a:defRPr>
            </a:pPr>
            <a:r>
              <a:rPr sz="1050" b="1">
                <a:solidFill>
                  <a:srgbClr val="344052"/>
                </a:solidFill>
              </a:rPr>
              <a:t>28.69%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213FB85-450D-4636-8660-45342287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00450"/>
            <a:ext cx="1047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FCCBDE0-7B7C-41CD-BD5E-2130A119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57600"/>
            <a:ext cx="91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44052"/>
                </a:solidFill>
              </a:defRPr>
            </a:pPr>
            <a:r>
              <a:rPr sz="1050" b="1">
                <a:solidFill>
                  <a:srgbClr val="344052"/>
                </a:solidFill>
              </a:rPr>
              <a:t>0.878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AB2A3DB-F788-4AFB-B952-FF0F1151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600450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9474AD9-0C15-4A81-A22C-404F5ABA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57600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44052"/>
                </a:solidFill>
              </a:defRPr>
            </a:pPr>
            <a:r>
              <a:rPr sz="1050" b="1">
                <a:solidFill>
                  <a:srgbClr val="344052"/>
                </a:solidFill>
              </a:rPr>
              <a:t>27.89%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515F0D1-D78C-4AE0-9A95-73D5161A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600450"/>
            <a:ext cx="1143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9221D1-4B50-4F67-ADF8-10D08CC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57600"/>
            <a:ext cx="100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44052"/>
                </a:solidFill>
              </a:defRPr>
            </a:pPr>
            <a:r>
              <a:rPr sz="1050" b="1">
                <a:solidFill>
                  <a:srgbClr val="344052"/>
                </a:solidFill>
              </a:rPr>
              <a:t>54.58%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9A5337D-76B4-4C70-88C0-DA5958E5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00450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357E47-BDC6-47CB-8BA5-9DE96F4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44052"/>
                </a:solidFill>
              </a:defRPr>
            </a:pPr>
            <a:r>
              <a:rPr sz="1050" b="1">
                <a:solidFill>
                  <a:srgbClr val="344052"/>
                </a:solidFill>
              </a:rPr>
              <a:t>22.97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E63BD11-2CDD-448D-93E1-07EAA660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00450"/>
            <a:ext cx="1200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D63137F-3F11-4071-9099-4CB81071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57600"/>
            <a:ext cx="106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44052"/>
                </a:solidFill>
              </a:defRPr>
            </a:pPr>
            <a:r>
              <a:rPr sz="1050" b="1">
                <a:solidFill>
                  <a:srgbClr val="344052"/>
                </a:solidFill>
              </a:rPr>
              <a:t>4.27%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32BB67E-9867-4929-A864-AD365B3F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43375"/>
            <a:ext cx="1571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230481A-43A9-4E48-BB58-2B18E398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200525"/>
            <a:ext cx="1438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MLP Hybrid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D7D52E-ED2B-4B87-9EC7-84E56B23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43375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2EB0452-5E0A-401C-8446-A6296C7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00525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47.43%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59E1848-56B2-4CD4-B676-480DCAB2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43375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679BFB9-7FFE-4520-B5D4-4E725D10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0052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22.52%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B1E083-7667-4FBA-94F4-2CE20EF3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143375"/>
            <a:ext cx="123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EB95644-9989-4016-B1C3-0930C5AE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0052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33.69%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4EA5C30-CF67-448F-8760-1176DA2A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43375"/>
            <a:ext cx="10477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0595759-0E01-4CD0-AD56-B5E2B224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00525"/>
            <a:ext cx="91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0.760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199C93-B8C7-4A0C-A47A-72D52C93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143375"/>
            <a:ext cx="12573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70484F0-3566-45CA-BED7-4E130E73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00525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27.89%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41F898-B6CB-47E3-B3DC-2769F45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43375"/>
            <a:ext cx="1143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C6BBBF-FD06-4D1D-9BE0-7CFF308F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00525"/>
            <a:ext cx="1009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53.37%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6245DA5-EB81-4938-ADE5-D74F933C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43375"/>
            <a:ext cx="1162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34336CB-F338-46D9-8697-0755304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0052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26.44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FF9ADCF-1D4D-4D7F-A7D1-2F1323B2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43375"/>
            <a:ext cx="12001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3F7DC2-9A61-44C0-A78E-ECB292D4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00525"/>
            <a:ext cx="106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44052"/>
                </a:solidFill>
              </a:defRPr>
            </a:pPr>
            <a:r>
              <a:rPr sz="1050" b="0">
                <a:solidFill>
                  <a:srgbClr val="344052"/>
                </a:solidFill>
              </a:rPr>
              <a:t>5.01%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88785ED-B8B4-4EBB-954A-31B7A713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0"/>
          </a:solidFill>
          <a:ln xmlns:a="http://schemas.openxmlformats.org/drawingml/2006/main" w="9525">
            <a:solidFill>
              <a:srgbClr val="B4DAD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DC4CABC-2F2D-45C9-B0BE-2E766961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673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68A87"/>
                </a:solidFill>
              </a:defRPr>
            </a:pPr>
            <a:r>
              <a:rPr sz="1575" b="1">
                <a:solidFill>
                  <a:srgbClr val="168A87"/>
                </a:solidFill>
              </a:rPr>
              <a:t>选择含义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501ED87-F965-412F-94F3-B19308F4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101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十个 offset 平均后，XGBoost 的累计收益/CAGR 最高（51.11%/24.23%）；LambdaRank 的 Sharpe 最高（0.878）、波动最低（28.69%），且累计成本最低（4.27%）。</a:t>
            </a:r>
          </a:p>
          <a:p xmlns:a="http://schemas.openxmlformats.org/drawingml/2006/main">
            <a:pPr>
              <a:buNone/>
              <a:defRPr sz="1200">
                <a:solidFill>
                  <a:srgbClr val="344052"/>
                </a:solidFill>
              </a:defRPr>
            </a:pPr>
            <a:r>
              <a:rPr sz="1200">
                <a:solidFill>
                  <a:srgbClr val="344052"/>
                </a:solidFill>
              </a:rPr>
              <a:t>最终选择 LambdaRank：在收益接近 XGBoost 的同时，风险与执行成本更优。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77EA9F5-830F-4BDB-8D76-8D927FAD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3557"/>
                </a:solidFill>
              </a:defRPr>
            </a:pPr>
            <a:r>
              <a:rPr sz="1350" b="1">
                <a:solidFill>
                  <a:srgbClr val="1F3557"/>
                </a:solidFill>
              </a:rPr>
              <a:t>结论需要保留这层区别：LambdaRank 是综合执行选择，不是每个回测数值都第一。</a:t>
            </a:r>
          </a:p>
        </p:txBody>
      </p:sp>
    </p:spTree>
    <p:extLst>
      <p:ext uri="{BB962C8B-B14F-4D97-AF65-F5344CB8AC3E}">
        <p14:creationId xmlns:p14="http://schemas.microsoft.com/office/powerpoint/2010/main" val="18373554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EA5CE-9C5C-41D4-9A2B-1E8DEB6F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XGBoost：2024–2025 交错 10 日策略净值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94EA8-BC36-459A-84B2-876513F4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XGBoost 的净值曲线整体最高，但卖出受限和换手成本仍需要关注。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928E2-0F0E-46A1-AA50-18167FE7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F96E5-C188-491D-89A2-2DABCD29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14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67B1B-B1EF-4EC9-8BC6-0DF405E2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6949c80ab40f5"/>
          <a:stretch xmlns:a="http://schemas.openxmlformats.org/drawingml/2006/main"/>
        </p:blipFill>
        <p:spPr>
          <a:xfrm xmlns:a="http://schemas.openxmlformats.org/drawingml/2006/main">
            <a:off x="1956594" y="1428750"/>
            <a:ext cx="8278813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B236B-EB36-43E6-94C3-7FC3B9A0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2457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57184"/>
                </a:solidFill>
              </a:defRPr>
            </a:pPr>
            <a:r>
              <a:rPr sz="900">
                <a:solidFill>
                  <a:srgbClr val="657184"/>
                </a:solidFill>
              </a:rPr>
              <a:t>浅蓝线：10 个 offset；红线：CSI1000 等权代理。每个 offset 均按交易日错位启动，避免单一换仓日造成偶然性。</a:t>
            </a:r>
          </a:p>
        </p:txBody>
      </p:sp>
    </p:spTree>
    <p:extLst>
      <p:ext uri="{BB962C8B-B14F-4D97-AF65-F5344CB8AC3E}">
        <p14:creationId xmlns:p14="http://schemas.microsoft.com/office/powerpoint/2010/main" val="4715900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F6F88-40BF-4CF1-84F4-477C1597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LightGBM LambdaRank：2024–2025 交错 10 日策略净值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0E302-5517-400F-8802-453F1A0A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LambdaRank 各 offset 表现较集中，单向换手和累计成本低于其他树模型。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52CF8-FABA-4B2B-A954-E349C48A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872E4-39FF-4798-BE4C-999D9F5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15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CA691-2338-45D9-AFBE-204B1B8D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04444e2cf4965"/>
          <a:stretch xmlns:a="http://schemas.openxmlformats.org/drawingml/2006/main"/>
        </p:blipFill>
        <p:spPr>
          <a:xfrm xmlns:a="http://schemas.openxmlformats.org/drawingml/2006/main">
            <a:off x="1956594" y="1428750"/>
            <a:ext cx="8278813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4ED5D-404C-4B9A-985E-6AA295CA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2457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57184"/>
                </a:solidFill>
              </a:defRPr>
            </a:pPr>
            <a:r>
              <a:rPr sz="900">
                <a:solidFill>
                  <a:srgbClr val="657184"/>
                </a:solidFill>
              </a:rPr>
              <a:t>浅蓝线：10 个 offset；红线：CSI1000 等权代理。每个 offset 均按交易日错位启动，避免单一换仓日造成偶然性。</a:t>
            </a:r>
          </a:p>
        </p:txBody>
      </p:sp>
    </p:spTree>
    <p:extLst>
      <p:ext uri="{BB962C8B-B14F-4D97-AF65-F5344CB8AC3E}">
        <p14:creationId xmlns:p14="http://schemas.microsoft.com/office/powerpoint/2010/main" val="18874647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35362-1A4F-4CC1-8940-DDC50AFF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LightGBM 回归：2024–2025 交错 10 日策略净值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5D55D-8EB2-4D14-B93C-C043BC51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LightGBM 回归的收益与风险处于中间位置，排序目标并未直接对 Top100 优化。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A6AE7-11A1-4CBE-BE2C-9985C6A9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F30C7-57BF-4840-93BB-DD41745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16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EB4C4-AD4D-438B-93C7-B25EBC39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93df75cbf4cd3"/>
          <a:stretch xmlns:a="http://schemas.openxmlformats.org/drawingml/2006/main"/>
        </p:blipFill>
        <p:spPr>
          <a:xfrm xmlns:a="http://schemas.openxmlformats.org/drawingml/2006/main">
            <a:off x="1956594" y="1428750"/>
            <a:ext cx="8278813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EF3EB-3CE6-406F-A7CE-0E9A3EE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2457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57184"/>
                </a:solidFill>
              </a:defRPr>
            </a:pPr>
            <a:r>
              <a:rPr sz="900">
                <a:solidFill>
                  <a:srgbClr val="657184"/>
                </a:solidFill>
              </a:rPr>
              <a:t>浅蓝线：10 个 offset；红线：CSI1000 等权代理。每个 offset 均按交易日错位启动，避免单一换仓日造成偶然性。</a:t>
            </a:r>
          </a:p>
        </p:txBody>
      </p:sp>
    </p:spTree>
    <p:extLst>
      <p:ext uri="{BB962C8B-B14F-4D97-AF65-F5344CB8AC3E}">
        <p14:creationId xmlns:p14="http://schemas.microsoft.com/office/powerpoint/2010/main" val="20689095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56D47-F45A-4ABA-8A74-5A133F36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Ridge：2024–2025 交错 10 日策略净值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8E384-DAD1-4A7C-95F7-58044F80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Ridge 作为线性基准，曲线较稳定但收益和 Sharpe 相对较低。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E51AE-17B8-4F93-9A1F-C8ED41B4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EFFC5-9507-49BB-AB09-2ACF52CB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17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D1B6A-DE5F-4FE4-9B68-EF05CB33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74afab1cc487f"/>
          <a:stretch xmlns:a="http://schemas.openxmlformats.org/drawingml/2006/main"/>
        </p:blipFill>
        <p:spPr>
          <a:xfrm xmlns:a="http://schemas.openxmlformats.org/drawingml/2006/main">
            <a:off x="1956594" y="1428750"/>
            <a:ext cx="8278813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7682B-57E2-4A0F-BB54-CC7F855C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2457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57184"/>
                </a:solidFill>
              </a:defRPr>
            </a:pPr>
            <a:r>
              <a:rPr sz="900">
                <a:solidFill>
                  <a:srgbClr val="657184"/>
                </a:solidFill>
              </a:rPr>
              <a:t>浅蓝线：10 个 offset；红线：CSI1000 等权代理。每个 offset 均按交易日错位启动，避免单一换仓日造成偶然性。</a:t>
            </a:r>
          </a:p>
        </p:txBody>
      </p:sp>
    </p:spTree>
    <p:extLst>
      <p:ext uri="{BB962C8B-B14F-4D97-AF65-F5344CB8AC3E}">
        <p14:creationId xmlns:p14="http://schemas.microsoft.com/office/powerpoint/2010/main" val="9661549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C1E2A-D78D-47F7-B80E-7BACADD8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MLP Hybrid：2024–2025 交错 10 日策略净值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3BFC4-9701-43A6-8DA2-CD0063AB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MLP Hybrid 的 offset 差异和波动更明显，复杂度没有转化成更好的最终策略结果。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2ECC7-B336-4F8C-A6C5-64F2ABB6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50F2F-DE77-4B06-8FE5-6A84F499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18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9D19C-9224-4B9B-9C17-44154767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0896600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f3bc24d3344a6"/>
          <a:stretch xmlns:a="http://schemas.openxmlformats.org/drawingml/2006/main"/>
        </p:blipFill>
        <p:spPr>
          <a:xfrm xmlns:a="http://schemas.openxmlformats.org/drawingml/2006/main">
            <a:off x="1956594" y="1428750"/>
            <a:ext cx="8278813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23142-4E90-469F-9EDE-81C17880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2457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57184"/>
                </a:solidFill>
              </a:defRPr>
            </a:pPr>
            <a:r>
              <a:rPr sz="900">
                <a:solidFill>
                  <a:srgbClr val="657184"/>
                </a:solidFill>
              </a:rPr>
              <a:t>浅蓝线：10 个 offset；红线：CSI1000 等权代理。每个 offset 均按交易日错位启动，避免单一换仓日造成偶然性。</a:t>
            </a:r>
          </a:p>
        </p:txBody>
      </p:sp>
    </p:spTree>
    <p:extLst>
      <p:ext uri="{BB962C8B-B14F-4D97-AF65-F5344CB8AC3E}">
        <p14:creationId xmlns:p14="http://schemas.microsoft.com/office/powerpoint/2010/main" val="18536630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F73E3-0A86-4525-A97A-570DED7E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最终模型选择：LambdaRank 作为执行模型，理由是目标匹配而非单指标冠军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9881C-766B-4F8B-BFE6-B72554E1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把模型层结果和策略层约束放在一起，结论更稳健。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11BDF-117D-4631-834A-2293E7C8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A61A2-37F0-4551-BB6D-B1C70A25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19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A4E3E-93C0-44BD-A262-E1909CF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09587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4E56B-136E-44AC-A79F-1FCED556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4782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68A87"/>
                </a:solidFill>
              </a:defRPr>
            </a:pPr>
            <a:r>
              <a:rPr sz="1650" b="1">
                <a:solidFill>
                  <a:srgbClr val="168A87"/>
                </a:solidFill>
              </a:rPr>
              <a:t>为什么选 LambdaRank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45CBB-CB0C-4345-904F-CE27030C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4714875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1. 训练目标直接围绕排序，且 NDCG@100 明确聚焦 Top100。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2. 与回归树共享特征和时间切分，比较具有可比性。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3. 单向换手 82.34，五个模型最低。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4. 累计成本 14.04%，五个模型最低。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5. 方便把 score_raw → rank_position → Top100 → JSON 连接到执行层。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CFE03-D426-43DC-9FDB-B7A79621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509587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F280A-C179-4FBD-AAB9-8F4CE154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8782A"/>
                </a:solidFill>
              </a:defRPr>
            </a:pPr>
            <a:r>
              <a:rPr sz="1650" b="1">
                <a:solidFill>
                  <a:srgbClr val="D8782A"/>
                </a:solidFill>
              </a:rPr>
              <a:t>必须同时承认的事实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8B56F-C56F-4EB4-8501-738115B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714875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1. XGBoost 的累计收益、CAGR、Sharpe 更高。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2. LambdaRank 的 Rank IC 不是最高。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3. 选择 LambdaRank 是综合执行口径后的工程决策。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4. 2026 以后要观察模型衰减、换手和成交质量，而不能只看历史回测。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03097-13B9-41EE-99FB-F7C405CA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3557"/>
                </a:solidFill>
              </a:defRPr>
            </a:pPr>
            <a:r>
              <a:rPr sz="1575" b="1">
                <a:solidFill>
                  <a:srgbClr val="1F3557"/>
                </a:solidFill>
              </a:rPr>
              <a:t>最终结论：LambdaRank 是当前“Top100 排序 + 可执行换仓”场景下的主模型；XGBoost 保留为收益对照模型。</a:t>
            </a:r>
          </a:p>
        </p:txBody>
      </p:sp>
    </p:spTree>
    <p:extLst>
      <p:ext uri="{BB962C8B-B14F-4D97-AF65-F5344CB8AC3E}">
        <p14:creationId xmlns:p14="http://schemas.microsoft.com/office/powerpoint/2010/main" val="8150417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15DDB-D3C7-42CF-9351-5B057E47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Matic Trading 连接链路：策略负责生成篮子，Matic 负责接收和执行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DA642-49C4-453C-81EA-41512260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自动运行器已删除；当前采用手动导出、人工检查、下游执行的方式。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35A3B-65F0-4C33-97FD-D8E61A3D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F85BC-D0AE-4154-A3B5-6B7DA7F8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20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63F4E-F9EF-44E1-804A-22009EC0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9DE55-49EC-4AD9-B813-ED9C2421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813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A8585-3745-456A-87AB-FAF2E860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7813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7326B-4135-4604-8E31-9E7833C4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5151F-D82A-4FD1-950D-4D5CC4F2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813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0D4D1-197B-47CE-87F8-3C5003F9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476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63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5B128-8FB0-4182-A100-C314C5C4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D63B4"/>
                </a:solidFill>
              </a:defRPr>
            </a:pPr>
            <a:r>
              <a:rPr sz="1350" b="1">
                <a:solidFill>
                  <a:srgbClr val="2D63B4"/>
                </a:solidFill>
              </a:rPr>
              <a:t>1. 数据更新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CB4AF-5AE0-4019-B2F3-751E373A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米筐</a:t>
            </a:r>
          </a:p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market panel + 17因子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976BF-516D-4A65-8A01-0357853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95500"/>
            <a:ext cx="1476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A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25672-9255-4221-954B-68F853A6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86000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8A87"/>
                </a:solidFill>
              </a:defRPr>
            </a:pPr>
            <a:r>
              <a:rPr sz="1350" b="1">
                <a:solidFill>
                  <a:srgbClr val="168A87"/>
                </a:solidFill>
              </a:rPr>
              <a:t>2. 模型推理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7B84C-06DB-4122-9990-4AE78587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43200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冻结 LambdaRank</a:t>
            </a:r>
          </a:p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最新 T 日横截面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D4B51-B7D5-44FC-B7EB-5F8B8E4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1476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78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2A2032-78BF-47B9-BA6F-FF914EFA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782A"/>
                </a:solidFill>
              </a:defRPr>
            </a:pPr>
            <a:r>
              <a:rPr sz="1350" b="1">
                <a:solidFill>
                  <a:srgbClr val="D8782A"/>
                </a:solidFill>
              </a:rPr>
              <a:t>3. 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EAD78-FDD6-469B-8977-1F78AA85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Top100</a:t>
            </a:r>
          </a:p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JSON + Excel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1B8D6-356C-4B2E-8FC7-DCF644F7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95500"/>
            <a:ext cx="1476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9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312FF-1B65-4763-8B03-984879DA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86000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B925F"/>
                </a:solidFill>
              </a:defRPr>
            </a:pPr>
            <a:r>
              <a:rPr sz="1350" b="1">
                <a:solidFill>
                  <a:srgbClr val="4B925F"/>
                </a:solidFill>
              </a:rPr>
              <a:t>4.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B1A9F-AA5B-4BFC-96D0-49606F8F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743200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上传 / 预览</a:t>
            </a:r>
          </a:p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目标持仓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84D7C-82B1-4C1F-A5E3-3BEF7E72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1476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35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C75FE-2148-46A0-B665-977FA927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3557"/>
                </a:solidFill>
              </a:defRPr>
            </a:pPr>
            <a:r>
              <a:rPr sz="1350" b="1">
                <a:solidFill>
                  <a:srgbClr val="1F3557"/>
                </a:solidFill>
              </a:rPr>
              <a:t>5. QMT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03F5F-E1FD-483B-827D-8FE3CEE6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rebalance</a:t>
            </a:r>
          </a:p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计算差额订单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1F4F8-5520-4681-B4B6-44980CE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95500"/>
            <a:ext cx="1476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23A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92D41-C46D-4E0A-BF16-20C61C3D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286000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23A3A"/>
                </a:solidFill>
              </a:defRPr>
            </a:pPr>
            <a:r>
              <a:rPr sz="1350" b="1">
                <a:solidFill>
                  <a:srgbClr val="B23A3A"/>
                </a:solidFill>
              </a:rPr>
              <a:t>6. 执行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82595-3ED3-40E8-AACF-44BCC14B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743200"/>
            <a:ext cx="1323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100股取整</a:t>
            </a:r>
          </a:p>
          <a:p xmlns:a="http://schemas.openxmlformats.org/drawingml/2006/main">
            <a:pPr algn="ctr"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委托 / 成交记录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6FF77-C8DF-4118-B514-62C958AB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71950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D63B4"/>
                </a:solidFill>
              </a:defRPr>
            </a:pPr>
            <a:r>
              <a:rPr sz="1350" b="1">
                <a:solidFill>
                  <a:srgbClr val="2D63B4"/>
                </a:solidFill>
              </a:rPr>
              <a:t>手动入口：scripts/export_csi1000_basket.py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23FF9-EB57-4C33-8209-AE2136F8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720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344052"/>
                </a:solidFill>
              </a:defRPr>
            </a:pPr>
            <a:r>
              <a:rPr sz="1350">
                <a:solidFill>
                  <a:srgbClr val="344052"/>
                </a:solidFill>
              </a:rPr>
              <a:t>策略模块不重新训练、不调参；每次只更新本地尾部数据，读取冻结模型并生成最新篮子。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5AD077-88C2-4018-9ECB-CBA8360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9587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3557"/>
                </a:solidFill>
              </a:defRPr>
            </a:pPr>
            <a:r>
              <a:rPr sz="1350" b="1">
                <a:solidFill>
                  <a:srgbClr val="1F3557"/>
                </a:solidFill>
              </a:rPr>
              <a:t>执行边界：Top100 由策略输出；是否 ST、停牌、涨跌停和是否可交易由下游交易软件负责。</a:t>
            </a:r>
          </a:p>
        </p:txBody>
      </p:sp>
    </p:spTree>
    <p:extLst>
      <p:ext uri="{BB962C8B-B14F-4D97-AF65-F5344CB8AC3E}">
        <p14:creationId xmlns:p14="http://schemas.microsoft.com/office/powerpoint/2010/main" val="9022522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A1A03-A524-42CC-A6E2-9314FF65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接口契约很简单：Matic 只需要 items[].symbol 和 items[].weight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A0A4F-3EFB-4D9C-8C8A-8770D34C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JSON 负责传递目标篮子，不承担模型解释和未来收益校准。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D9034-9F22-4A36-806D-AF431686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26B4E-038A-40FD-88C5-06E6EEB3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21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EF587-96A0-4B6D-83B3-EF50A8B8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953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AFFF5-E9B9-4637-B998-E2530AA7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D8782A"/>
                </a:solidFill>
              </a:defRPr>
            </a:pPr>
            <a:r>
              <a:rPr sz="1575" b="1">
                <a:solidFill>
                  <a:srgbClr val="D8782A"/>
                </a:solidFill>
              </a:rPr>
              <a:t>csi1000_basket_latest.json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10A02-F344-4E6D-A003-53AB6E27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38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{</a:t>
            </a:r>
          </a:p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  "strategy": "lambdarank_csi1000",</a:t>
            </a:r>
          </a:p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  "model": "lightgbm_lambdarank",</a:t>
            </a:r>
          </a:p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  "horizon": "10d",</a:t>
            </a:r>
          </a:p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  "signal_date": "T",</a:t>
            </a:r>
          </a:p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  "n_holdings": 100,</a:t>
            </a:r>
          </a:p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  "items": [</a:t>
            </a:r>
          </a:p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    {"symbol": "000001.XSHE", "weight": 0.01}</a:t>
            </a:r>
          </a:p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  ]</a:t>
            </a:r>
          </a:p>
          <a:p xmlns:a="http://schemas.openxmlformats.org/drawingml/2006/main">
            <a:pPr>
              <a:buNone/>
              <a:defRPr sz="1125">
                <a:solidFill>
                  <a:srgbClr val="344052"/>
                </a:solidFill>
              </a:defRPr>
            </a:pPr>
            <a:r>
              <a:rPr sz="1125">
                <a:solidFill>
                  <a:srgbClr val="344052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1F6D3-CB35-4F7D-ACA0-565B0787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57325"/>
            <a:ext cx="5286375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ED591-D021-49C2-84C6-16969922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68A87"/>
                </a:solidFill>
              </a:defRPr>
            </a:pPr>
            <a:r>
              <a:rPr sz="1575" b="1">
                <a:solidFill>
                  <a:srgbClr val="168A87"/>
                </a:solidFill>
              </a:rPr>
              <a:t>下游处理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6411A-0E92-40AE-A6D7-466A23B8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读取 symbol 与目标 weight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按 rebalance 模式计算目标持仓和当前持仓的集合差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已持有且仍入选的股票不先卖出再买入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A股按100股整数倍下单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无法买入时不由策略重新递补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 实际委托价格、成交和交易日志由 QMT / Matic 执行层处理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7D989-D504-4F07-81EF-87DC44FD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3557"/>
                </a:solidFill>
              </a:defRPr>
            </a:pPr>
            <a:r>
              <a:rPr sz="1500" b="1">
                <a:solidFill>
                  <a:srgbClr val="1F3557"/>
                </a:solidFill>
              </a:rPr>
              <a:t>当前配置：rebalance_mode = rebalance；策略本身不再包含自动 runner。</a:t>
            </a:r>
          </a:p>
        </p:txBody>
      </p:sp>
    </p:spTree>
    <p:extLst>
      <p:ext uri="{BB962C8B-B14F-4D97-AF65-F5344CB8AC3E}">
        <p14:creationId xmlns:p14="http://schemas.microsoft.com/office/powerpoint/2010/main" val="13218425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95229-19D3-40CE-949A-B3D592C3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F3557"/>
                </a:solidFill>
              </a:defRPr>
            </a:pPr>
            <a:r>
              <a:rPr sz="2325" b="1">
                <a:solidFill>
                  <a:srgbClr val="1F3557"/>
                </a:solidFill>
              </a:rPr>
              <a:t>项目当前状态：研究、冻结模型和手动执行链路已经分层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5B8EE-2747-42F4-A7FA-E0AA5F25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15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57184"/>
                </a:solidFill>
              </a:defRPr>
            </a:pPr>
            <a:r>
              <a:rPr sz="1200">
                <a:solidFill>
                  <a:srgbClr val="657184"/>
                </a:solidFill>
              </a:rPr>
              <a:t>下一阶段重点从“能不能跑”转向“实盘信号是否稳定、成交是否可复现”。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548EF-7554-4033-90C7-B56F075E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7632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5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9B79E-976F-4499-AAE4-68CE2D20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86525"/>
            <a:ext cx="2619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657184"/>
                </a:solidFill>
              </a:defRPr>
            </a:pPr>
            <a:r>
              <a:rPr sz="825">
                <a:solidFill>
                  <a:srgbClr val="657184"/>
                </a:solidFill>
              </a:rPr>
              <a:t>22  /  模型选择与执行流程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53EB3-4CEC-4357-90F9-4E64D9D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FA2EF-6E34-4D4D-9F16-4DB1C9F3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B925F"/>
                </a:solidFill>
              </a:defRPr>
            </a:pPr>
            <a:r>
              <a:rPr sz="1650" b="1">
                <a:solidFill>
                  <a:srgbClr val="4B925F"/>
                </a:solidFill>
              </a:rPr>
              <a:t>已经完成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FFE48-D58A-4B21-B256-4005C0F5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952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17个因子进入统一输入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10日 rank target 与五模型比较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2019–2023 最终重训并冻结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2024–2025 静态策略回测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LambdaRank JSON / Excel 输出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Matic Dashboard / QMT 接口对齐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304F9-DFE3-4B0F-A1D7-9A3E91EF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8002A-EE94-4518-A1F2-CDCD64E2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76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68A87"/>
                </a:solidFill>
              </a:defRPr>
            </a:pPr>
            <a:r>
              <a:rPr sz="1650" b="1">
                <a:solidFill>
                  <a:srgbClr val="168A87"/>
                </a:solidFill>
              </a:rPr>
              <a:t>当前选择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0F471-8304-4C8F-B34E-371EF559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952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主模型：LightGBM LambdaRank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输出：Top100 等权，单只 1%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备用对照：XGBoost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换仓：rebalance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运行方式：手动导出，不使用自动 runner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16ACD-95A9-46B1-86E5-559368C4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677B1-7AB1-44EE-878B-2621AE1F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8782A"/>
                </a:solidFill>
              </a:defRPr>
            </a:pPr>
            <a:r>
              <a:rPr sz="1650" b="1">
                <a:solidFill>
                  <a:srgbClr val="D8782A"/>
                </a:solidFill>
              </a:rPr>
              <a:t>后续观察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800AD-491A-45F1-ADD5-8FA83C9F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952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2026 以后前向模拟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模型 Rank IC 与 Top100稳定性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换手、成本和成交率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数据更新是否完整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模型衰减后是否需要重新训练</a:t>
            </a:r>
          </a:p>
          <a:p xmlns:a="http://schemas.openxmlformats.org/drawingml/2006/main">
            <a:pPr>
              <a:buNone/>
              <a:defRPr sz="1275">
                <a:solidFill>
                  <a:srgbClr val="344052"/>
                </a:solidFill>
              </a:defRPr>
            </a:pPr>
            <a:r>
              <a:rPr sz="1275">
                <a:solidFill>
                  <a:srgbClr val="344052"/>
                </a:solidFill>
              </a:rPr>
              <a:t>• 实盘执行与回测口径差异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AB9BF-4AC8-4275-8451-9978C59F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3557"/>
                </a:solidFill>
              </a:defRPr>
            </a:pPr>
            <a:r>
              <a:rPr sz="1650" b="1">
                <a:solidFill>
                  <a:srgbClr val="1F3557"/>
                </a:solidFill>
              </a:rPr>
              <a:t>最终判断：研究链路已经可以输出可执行的 Top100；接下来要用真实运行记录验证模型，而不是继续只看历史回测。</a:t>
            </a:r>
          </a:p>
        </p:txBody>
      </p:sp>
    </p:spTree>
    <p:extLst>
      <p:ext uri="{BB962C8B-B14F-4D97-AF65-F5344CB8AC3E}">
        <p14:creationId xmlns:p14="http://schemas.microsoft.com/office/powerpoint/2010/main" val="1444270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2026-08-18T05:41:41.7010000Z</dcterms:created>
  <dcterms:modified xsi:type="dcterms:W3CDTF">2026-08-18T05:41:41.7010000Z</dcterms:modified>
</coreProperties>
</file>